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6FA3FF"/>
                </a:solidFill>
                <a:latin typeface="Segoe UI"/>
              </a:rPr>
              <a:t>MACSE603 - VISUAL ANALYTICS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3366CC"/>
                </a:solidFill>
                <a:latin typeface="Segoe UI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10245C"/>
                </a:solidFill>
                <a:latin typeface="Segoe UI"/>
              </a:rPr>
              <a:t>Smart Energy Consumption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10245C"/>
                </a:solidFill>
                <a:latin typeface="Segoe UI"/>
              </a:rPr>
              <a:t>Visualization Dashboard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3366CC"/>
                </a:solidFill>
                <a:latin typeface="Segoe UI"/>
              </a:rPr>
              <a:t>Using Power BI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584448"/>
            <a:ext cx="12801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555555"/>
                </a:solidFill>
                <a:latin typeface="Segoe UI"/>
              </a:rPr>
              <a:t>TEAM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/>
              </a:rPr>
              <a:t>Vedant Nimkar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/>
              </a:rPr>
              <a:t>Reg. No. 26MML0045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TEAM LEADER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480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/>
              </a:rPr>
              <a:t>Jitesh Bobde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/>
              </a:rPr>
              <a:t>Reg. No. 26MML0025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6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6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4480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/>
              </a:rPr>
              <a:t>Ayush Sharma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/>
              </a:rPr>
              <a:t>Reg. No. 26MML0043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1">
                <a:solidFill>
                  <a:srgbClr val="555555"/>
                </a:solidFill>
                <a:latin typeface="Segoe UI"/>
              </a:rPr>
              <a:t>Literature review of six research papers  -  two papers per team 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629400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FA3FF"/>
                </a:solidFill>
                <a:latin typeface="Segoe UI"/>
              </a:rPr>
              <a:t>M.Tech -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Abstract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486400" cy="489204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486400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3366CC"/>
                </a:solidFill>
                <a:latin typeface="Segoe UI"/>
              </a:rPr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This work reviews six studies on smart energy monitoring, electricity-consumption analytics, interactive visualization, forecasting and Power BI dashboards.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The literature shows that effective dashboards depend on reliable data collection, data cleaning, dimensional modeling, meaningful visual encoding, interactivity and actionable analytics.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These findings support the proposed project: a Power BI dashboard that helps users understand consumption trends, detect high-use periods, compare consumers or facilities, and support energy-efficiency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47725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261872"/>
            <a:ext cx="5477256" cy="6400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179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B06A00"/>
                </a:solidFill>
                <a:latin typeface="Segoe UI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/>
              </a:rPr>
              <a:t>Fragmented data - </a:t>
            </a:r>
            <a:r>
              <a:rPr sz="1250">
                <a:solidFill>
                  <a:srgbClr val="1C1C1C"/>
                </a:solidFill>
                <a:latin typeface="Segoe UI"/>
              </a:rPr>
              <a:t>consumption readings are spread across smart meters, sensors and billing records with no common format.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/>
              </a:rPr>
              <a:t>Poor standardisation - </a:t>
            </a:r>
            <a:r>
              <a:rPr sz="1250">
                <a:solidFill>
                  <a:srgbClr val="1C1C1C"/>
                </a:solidFill>
                <a:latin typeface="Segoe UI"/>
              </a:rPr>
              <a:t>inconsistent units, missing values and outliers make raw energy data difficult to trust.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/>
              </a:rPr>
              <a:t>No single view - </a:t>
            </a:r>
            <a:r>
              <a:rPr sz="1250">
                <a:solidFill>
                  <a:srgbClr val="1C1C1C"/>
                </a:solidFill>
                <a:latin typeface="Segoe UI"/>
              </a:rPr>
              <a:t>stakeholders cannot easily see trends, peak periods or compare consumers in one place.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/>
              </a:rPr>
              <a:t>Observation without action - </a:t>
            </a:r>
            <a:r>
              <a:rPr sz="1250">
                <a:solidFill>
                  <a:srgbClr val="1C1C1C"/>
                </a:solidFill>
                <a:latin typeface="Segoe UI"/>
              </a:rPr>
              <a:t>most reports describe past usage but do not flag anomalies or forecast future demand.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/>
              </a:rPr>
              <a:t>Disconnected solutions - </a:t>
            </a:r>
            <a:r>
              <a:rPr sz="1250">
                <a:solidFill>
                  <a:srgbClr val="1C1C1C"/>
                </a:solidFill>
                <a:latin typeface="Segoe UI"/>
              </a:rPr>
              <a:t>existing work addresses Power BI reporting, IoT monitoring or machine learning separately, not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68580" cy="14813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81328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Build the dashboard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Develop an interactive Power BI dashboard for smart energy consumption using a documented ETL and star-schema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62656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62656"/>
            <a:ext cx="68580" cy="148132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4553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45536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Report core KPIs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Present total energy and cost KPIs with explainable DAX measures so every number can be traced to its source.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26864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68580" cy="14813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97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09744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Reveal consumption patterns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Show daily, weekly, monthly and hourly trends and identify peak-demand periods and load profiles.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298448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298448"/>
            <a:ext cx="68580" cy="148132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4813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1481328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Enable comparison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Compare consumers, buildings or facilities and rank the Top-N high-consumption entities.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962656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2962656"/>
            <a:ext cx="68580" cy="14813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4553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145536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Add diagnostic analytics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Flag anomalies, provide forecast charts and show renewable-versus-grid contribution where data allows.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626864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626864"/>
            <a:ext cx="68580" cy="148132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8097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809744"/>
            <a:ext cx="4343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/>
              </a:rPr>
              <a:t>Support investigation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/>
              </a:rPr>
              <a:t>Provide slicers for date, location, consumer, tariff and appliance plus drill-through pages for detail.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Literature Review &amp; Related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55555"/>
                </a:solidFill>
                <a:latin typeface="Segoe UI"/>
              </a:rPr>
              <a:t>Six papers reviewed - two per team member - covering BI workflows, big-data visualization, IoT sensing and machine-learning analytics.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36192"/>
          <a:ext cx="1117396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2880360"/>
                <a:gridCol w="1600200"/>
                <a:gridCol w="4800600"/>
                <a:gridCol w="1508760"/>
              </a:tblGrid>
              <a:tr h="6596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4008" marR="64008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Paper / Study</a:t>
                      </a:r>
                    </a:p>
                  </a:txBody>
                  <a:tcPr anchor="ctr" marL="64008" marR="64008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anchor="ctr" marL="64008" marR="64008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Key contribution</a:t>
                      </a:r>
                    </a:p>
                  </a:txBody>
                  <a:tcPr anchor="ctr" marL="64008" marR="64008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Reviewer</a:t>
                      </a:r>
                    </a:p>
                  </a:txBody>
                  <a:tcPr anchor="ctr" marL="64008" marR="64008">
                    <a:solidFill>
                      <a:srgbClr val="10245C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/>
                        </a:rPr>
                        <a:t>Energy Consumption Distribution in Portugal: A Business Intelligence Solution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/>
                        </a:rPr>
                        <a:t>NOVA IMS, 2024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/>
                        </a:rPr>
                        <a:t>Design Science Research Methodology; BI conceptual model and interactive Power BI dashboard over monthly, hourly and geographic data. Lesson: start from explicit business questions.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/>
                        </a:rPr>
                        <a:t>Vedant Nimkar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/>
                        </a:rPr>
                        <a:t>Electricity Consumption using Big Data Analytics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/>
                        </a:rPr>
                        <a:t>Awate et al., IJARSCT 3(2), 2023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/>
                        </a:rPr>
                        <a:t>500 residential consumers over 24 months. Power BI visuals plus Prophet forecasting and consumer ranking. Limitation: monthly data restricts temporal granularity.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/>
                        </a:rPr>
                        <a:t>Vedant Nimkar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/>
                        </a:rPr>
                        <a:t>Energy Calculation Using Power BI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/>
                        </a:rPr>
                        <a:t>IJRPR, 2023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/>
                        </a:rPr>
                        <a:t>End-to-end workflow: collect, clean, transform, model, visualise, add slicers, test accuracy, publish. Emphasises usability and stakeholder-oriented layout.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/>
                        </a:rPr>
                        <a:t>Jitesh Bobde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/>
                        </a:rPr>
                        <a:t>Visualization as a Means of Big Data Management: Qatar Electricity Consumption Data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/>
                        </a:rPr>
                        <a:t>Soliman &amp; Fetais, IEEE GCCCE, 2017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/>
                        </a:rPr>
                        <a:t>Visualization converts large inconsistent energy data into information. Identifies standardisation, integration, speed and outlier challenges.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/>
                        </a:rPr>
                        <a:t>Jitesh Bobde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/>
                        </a:rPr>
                        <a:t>An IoT-Enabled Smart Energy Monitoring and Fault Prediction System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/>
                        </a:rPr>
                        <a:t>IJIRT, 2026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/>
                        </a:rPr>
                        <a:t>ESP32 voltage/current sensing with calibration, MQTT to cloud, real-time dashboards, regression forecasting and fault anticipation. Dashboard is web-based, not Power BI.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/>
                        </a:rPr>
                        <a:t>Ayush Sharma</a:t>
                      </a:r>
                    </a:p>
                  </a:txBody>
                  <a:tcPr anchor="ctr" marL="64008" marR="64008" marT="36576" marB="36576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/>
                        </a:rPr>
                        <a:t>Interactive Machine Learning-Powered Dashboard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/>
                        </a:rPr>
                        <a:t>ESANN Proceedings, 2024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/>
                        </a:rPr>
                        <a:t>Machine learning with interactive visual analytics: t-SNE maps of daily demand profiles, data-cube filtering, sparklines and morphing projections.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/>
                        </a:rPr>
                        <a:t>Ayush Sharma</a:t>
                      </a:r>
                    </a:p>
                  </a:txBody>
                  <a:tcPr anchor="ctr" marL="64008" marR="64008" marT="36576" marB="36576">
                    <a:solidFill>
                      <a:srgbClr val="F3F7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Research Gap Identified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3366CC"/>
                </a:solidFill>
                <a:latin typeface="Segoe UI"/>
              </a:rPr>
              <a:t>RECURRING REQUIREMENTS ACROSS THE SIX PAPERS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282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0078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Reliable and standardized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780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505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A clear, documented ETL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227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A well-structured analytical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22192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22192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77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5020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Interactive visuals that answer stakeholder questions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72000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7274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0001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/>
              </a:rPr>
              <a:t>Predictive or diagnostic features that turn observation into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40680"/>
            <a:ext cx="5532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55555"/>
                </a:solidFill>
                <a:latin typeface="Segoe UI"/>
              </a:rPr>
              <a:t>Power BI suits the reporting and exploration layer, while Python, SQL, IoT platforms and ML services provide data preparation and advanced analytics.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207008"/>
            <a:ext cx="5413248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207008"/>
            <a:ext cx="5413248" cy="6400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44475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B06A00"/>
                </a:solidFill>
                <a:latin typeface="Segoe UI"/>
              </a:rPr>
              <a:t>THE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810512"/>
            <a:ext cx="4800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 i="0">
                <a:solidFill>
                  <a:srgbClr val="10245C"/>
                </a:solidFill>
                <a:latin typeface="Segoe UI"/>
              </a:rPr>
              <a:t>Existing work focuses on either Power BI reporting, IoT monitoring, or machine-learning analytics in isolation.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/>
              </a:rPr>
              <a:t>No single study integrates all three layers into one practical, documented and evaluated dashboard.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456432"/>
            <a:ext cx="5413248" cy="26700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456432"/>
            <a:ext cx="5413248" cy="6400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694176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Segoe UI"/>
              </a:rPr>
              <a:t>OUR PROPOSED CONTRIBUTION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059936"/>
            <a:ext cx="48006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/>
              </a:rPr>
              <a:t>▪   </a:t>
            </a:r>
            <a:r>
              <a:rPr sz="1150">
                <a:solidFill>
                  <a:srgbClr val="1C1C1C"/>
                </a:solidFill>
                <a:latin typeface="Segoe UI"/>
              </a:rPr>
              <a:t>Integrate reporting, IoT data and analytics in one dashboard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/>
              </a:rPr>
              <a:t>▪   </a:t>
            </a:r>
            <a:r>
              <a:rPr sz="1150">
                <a:solidFill>
                  <a:srgbClr val="1C1C1C"/>
                </a:solidFill>
                <a:latin typeface="Segoe UI"/>
              </a:rPr>
              <a:t>Document explicit data-quality checks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/>
              </a:rPr>
              <a:t>▪   </a:t>
            </a:r>
            <a:r>
              <a:rPr sz="1150">
                <a:solidFill>
                  <a:srgbClr val="1C1C1C"/>
                </a:solidFill>
                <a:latin typeface="Segoe UI"/>
              </a:rPr>
              <a:t>Provide role-specific views for different stakeholders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/>
              </a:rPr>
              <a:t>▪   </a:t>
            </a:r>
            <a:r>
              <a:rPr sz="1150">
                <a:solidFill>
                  <a:srgbClr val="1C1C1C"/>
                </a:solidFill>
                <a:latin typeface="Segoe UI"/>
              </a:rPr>
              <a:t>Use explainable KPIs traceable to source data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/>
              </a:rPr>
              <a:t>▪   </a:t>
            </a:r>
            <a:r>
              <a:rPr sz="1150">
                <a:solidFill>
                  <a:srgbClr val="1C1C1C"/>
                </a:solidFill>
                <a:latin typeface="Segoe UI"/>
              </a:rPr>
              <a:t>Evaluate on usability and decision usefulness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Proposed System Design, Architecture &amp;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148840" cy="78638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90472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380744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Smart meters  |  IoT sensors (ESP32 via MQTT)  |  Billing records  |  Weather / tariff reference data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160520" y="2039112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85416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85416"/>
            <a:ext cx="2148840" cy="78638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INGESTION &amp; ETL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31720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Power Query cleaning  |  unit standardisation  |  missing-value treatment  |  outlier handling  |  scheduled refresh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160520" y="2990088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36392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36392"/>
            <a:ext cx="2148840" cy="78638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92424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ANALYTICAL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282696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Star schema (fact: consumption readings; dimensions: date, consumer, location, tariff, appliance)  |  DAX measures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160520" y="3941064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87368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87368"/>
            <a:ext cx="2148840" cy="78638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4340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ANALYTICS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233672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Forecasting (Prophet / regression)  |  anomaly detection  |  load-shape clustering with t-SNE  |  Top-N ranking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160520" y="4892040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038344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038344"/>
            <a:ext cx="2148840" cy="78638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29437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PRESENTATION - 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184648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/>
              </a:rPr>
              <a:t>KPI cards  |  trend &amp; peak-demand charts  |  load heatmaps  |  comparisons  |  slicers  |  drill-through pages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234440"/>
            <a:ext cx="34564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234440"/>
            <a:ext cx="3456432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463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3366CC"/>
                </a:solidFill>
                <a:latin typeface="Segoe UI"/>
              </a:rPr>
              <a:t>METHODS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810512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Design Science Research Methodology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Business questions defined first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Iterative build with user feedback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Star-schema dimensional modeling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Accuracy testing before publishing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913632"/>
            <a:ext cx="3456432" cy="22128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913632"/>
            <a:ext cx="3456432" cy="6400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1422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Segoe UI"/>
              </a:rPr>
              <a:t>EVALUATION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489704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Refresh reliability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Visual clarity and usability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Forecast error where used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/>
              </a:rPr>
              <a:t>▪   </a:t>
            </a:r>
            <a:r>
              <a:rPr sz="1050">
                <a:solidFill>
                  <a:srgbClr val="1C1C1C"/>
                </a:solidFill>
                <a:latin typeface="Segoe UI"/>
              </a:rPr>
              <a:t>Actionable energy-saving findings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102412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Visual Design Concepts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FA3FF"/>
                </a:solidFill>
                <a:latin typeface="Segoe UI"/>
              </a:rPr>
              <a:t>Illustrative renderings of the analytical visuals the dashboard will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Load-Profile Heatmap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atmap_loa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26" y="1188720"/>
            <a:ext cx="5801442" cy="2788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3250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Synthetic illustration: hour-of-day against day-of-week consumption intensity, with one injected anomaly highlighted.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Each cell is average consumption for one hour on one weekday. Colour intensity exposes the building's daily rhythm at a glance - a morning ramp, a dominant evening peak, and a clearly different weekend pattern.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80560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HOW IT IS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A matrix visual in Power BI over the consumption fact table, with hour and weekday pulled from the date dimension. Conditional formatting drives the colour scale from a DAX average measure.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80560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DECISION IT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Identifies exactly when peak demand occurs so tariff shifting, load staggering and equipment scheduling can be targeted at the right hours instead of the whole 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2 (hourly granularity) and Paper 6 (load-profile visuals)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Demand Forecast with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recas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043" y="1188720"/>
            <a:ext cx="6315608" cy="2788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3250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Synthetic illustration: historical consumption with a forward forecast and 95% prediction interval.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The solid line is measured history; the dashed line projects future demand. The widening band communicates that confidence decays the further ahead the model predicts.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80560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HOW IT IS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Prophet decomposes the series into trend plus weekly and monthly seasonality. Results are written back to the model and rendered as a Power BI line-and-area combination.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80560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DECISION IT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Enables procurement and capacity planning against an expected range rather than a single number, and makes forecast error measurable as an evaluation metric.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2 (Prophet forecasting) and Paper 5 (regression forecasting)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Automated Anomaly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nomal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71" y="1188720"/>
            <a:ext cx="6603553" cy="2788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3250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Synthetic illustration: consumption against a statistical control band, with deviations flagged and quantified.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The shaded band is expected behaviour derived from rolling statistics. Points breaching the threshold are marked in red and annotated with the size of the deviation in kWh.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80560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HOW IT IS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A DAX measure computes a rolling mean and standard deviation; any reading beyond 2.2 sigma is flagged. The flag becomes a field that drives both the marker and an alert card.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80560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DECISION IT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Converts passive reporting into action - equipment faults, meter errors and wasteful overnight loads surface immediately instead of at the end of a billing 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4 (outlier handling) and Paper 5 (fault prediction)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Load-Shape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sne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601" y="1188720"/>
            <a:ext cx="4002492" cy="3063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30682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38912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Synthetic illustration: t-SNE projection grouping consumers by the shape of their daily demand curve.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3578352" cy="15544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754880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95604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266944"/>
            <a:ext cx="31760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Every point is one consumer-day compressed from 24 hourly readings into two dimensions. Points that sit together behave alike, so distinct usage personalities emerge as visible clusters.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754880"/>
            <a:ext cx="3578352" cy="15544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754880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495604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HOW IT IS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5266944"/>
            <a:ext cx="31760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Hourly profiles are normalised, then t-SNE reduces them to two dimensions in Python. Cluster labels return to Power BI as a dimension that every other visual can filter 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754880"/>
            <a:ext cx="3578352" cy="155448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754880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495604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DECISION IT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5266944"/>
            <a:ext cx="31760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Allows efficiency programmes to be tailored per segment, and makes the irregular cluster a natural watch-list for investigation.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6 (t-SNE maps, morphing projections)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Top-N Ranking with Sparklines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n_spark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259" y="1188720"/>
            <a:ext cx="5359176" cy="2788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3250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Synthetic illustration: highest-consuming entities with inline trend sparklines and period-on-period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Rank, absolute consumption, a compact trend line and a directional delta sit on a single row, so magnitude and momentum are readable together without opening another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80560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HOW IT IS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A Power BI table visual with data bars, native sparklines and a DAX time-intelligence measure for the percentage change. Top-N filtering is applied through a rank measure.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80560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DECISION IT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Directs limited engineering attention to the few entities that dominate the bill, and separates the ones getting worse from the ones already improving.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Traces to Paper 2 (consumer ranking) and Paper 6 (sparklines)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/>
              </a:rPr>
              <a:t>End-to-End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56" y="1188720"/>
            <a:ext cx="8640582" cy="2788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032504"/>
            <a:ext cx="11173968" cy="27432"/>
          </a:xfrm>
          <a:prstGeom prst="rect">
            <a:avLst/>
          </a:prstGeom>
          <a:solidFill>
            <a:srgbClr val="C8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Segoe UI"/>
              </a:rPr>
              <a:t>Reference architecture: raw sensing through to the published Power BI dashboard, with quality gates at every hand-off.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3578352" cy="5486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/>
              </a:rP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Smart meters, ESP32 sensors and billing extracts publish over MQTT into a cloud store, giving one landing zone regardless of source format.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7576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7576" y="4480560"/>
            <a:ext cx="3578352" cy="5486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44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0245C"/>
                </a:solidFill>
                <a:latin typeface="Segoe UI"/>
              </a:rPr>
              <a:t>PREPARATION &amp;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Power Query standardises units and treats missing values, then loads a star schema whose DAX measures keep every KPI traceable to its source rows.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2232" y="4480560"/>
            <a:ext cx="3578352" cy="18288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2232" y="4480560"/>
            <a:ext cx="3578352" cy="54864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4681728"/>
            <a:ext cx="3176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/>
              </a:rPr>
              <a:t>ANALYTICS &amp;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4992624"/>
            <a:ext cx="31760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1C1C1C"/>
                </a:solidFill>
                <a:latin typeface="Segoe UI"/>
              </a:rPr>
              <a:t>Forecasting, anomaly detection and clustering enrich the model before Power BI publishes role-specific pages with slicers and drill-through.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1">
                <a:solidFill>
                  <a:srgbClr val="3366CC"/>
                </a:solidFill>
                <a:latin typeface="Segoe UI"/>
              </a:rPr>
              <a:t>Integrates Papers 1, 3, 4 and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/>
              </a:rPr>
              <a:t>MACSE603 - Visual Analytics Lab  |  Smart Energy Consumption Visualization Dashboard Using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