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7315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6FA3FF"/>
                </a:solidFill>
                <a:latin typeface="Segoe UI"/>
              </a:rPr>
              <a:t>MACSE603 - VISUAL ANALYTICS LAB  |  SLOT: VL2026270106590 (PRP135)  |  FALL SEMESTER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3366CC"/>
                </a:solidFill>
                <a:latin typeface="Segoe UI"/>
              </a:rPr>
              <a:t>ACADEMIC FINAL CAPSTONE PROJECT DEFENSE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10245C"/>
                </a:solidFill>
                <a:latin typeface="Segoe UI"/>
              </a:rPr>
              <a:t>Smart Energy Consumption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10245C"/>
                </a:solidFill>
                <a:latin typeface="Segoe UI"/>
              </a:rPr>
              <a:t>Visualization Dashboard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 i="0">
                <a:solidFill>
                  <a:srgbClr val="3366CC"/>
                </a:solidFill>
                <a:latin typeface="Segoe UI"/>
              </a:rPr>
              <a:t>Using Power BI &amp; IoT Pipelines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99232"/>
            <a:ext cx="1280160" cy="3657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154680"/>
            <a:ext cx="10634472" cy="74980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154680"/>
            <a:ext cx="64008" cy="74980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186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555555"/>
                </a:solidFill>
                <a:latin typeface="Segoe UI"/>
              </a:rPr>
              <a:t>SUBMITTED TO / FACULTY EVALUATOR &amp; GUIDE: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0245C"/>
                </a:solidFill>
                <a:latin typeface="Segoe UI"/>
              </a:rPr>
              <a:t>Dr. MANIKANDAN K  |  Professor Grade 2, Department of Database Systems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Segoe UI"/>
              </a:rPr>
              <a:t>School of Computer Science and Engineering (SCOPE), VIT Vellore (Cabin: SJT 411 A29 • Email: kmanikandan@vit.ac.in)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05072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 i="0">
                <a:solidFill>
                  <a:srgbClr val="555555"/>
                </a:solidFill>
                <a:latin typeface="Segoe UI"/>
              </a:rPr>
              <a:t>SUBMITTED BY: PROJECT TEAM MEMBERS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401568" cy="13258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297680"/>
            <a:ext cx="3401568" cy="6400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434840"/>
            <a:ext cx="2926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50" b="1" i="0">
                <a:solidFill>
                  <a:srgbClr val="10245C"/>
                </a:solidFill>
                <a:latin typeface="Segoe UI"/>
              </a:rPr>
              <a:t>Vedant Nimkar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555"/>
                </a:solidFill>
                <a:latin typeface="Segoe UI"/>
              </a:rPr>
              <a:t>Reg. No. 26MML0045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TEAM LEADER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4297680"/>
            <a:ext cx="3401568" cy="13258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4297680"/>
            <a:ext cx="3401568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34840"/>
            <a:ext cx="2926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50" b="1" i="0">
                <a:solidFill>
                  <a:srgbClr val="10245C"/>
                </a:solidFill>
                <a:latin typeface="Segoe UI"/>
              </a:rPr>
              <a:t>Jitesh Bobde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555"/>
                </a:solidFill>
                <a:latin typeface="Segoe UI"/>
              </a:rPr>
              <a:t>Reg. No. 26MML0025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MEMBER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4297680"/>
            <a:ext cx="3401568" cy="13258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4297680"/>
            <a:ext cx="3401568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434840"/>
            <a:ext cx="2926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50" b="1" i="0">
                <a:solidFill>
                  <a:srgbClr val="10245C"/>
                </a:solidFill>
                <a:latin typeface="Segoe UI"/>
              </a:rPr>
              <a:t>Ayush Sharma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555"/>
                </a:solidFill>
                <a:latin typeface="Segoe UI"/>
              </a:rPr>
              <a:t>Reg. No. 26MML0043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MEMBER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Deliverables: Star Schema Warehouse (52.5k rows) • Native Power BI (.pbip / TMDL) • ML Ridge Forecast (R²=0.996) • ECharts Web App • Vercel 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601968"/>
            <a:ext cx="10607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0">
                <a:solidFill>
                  <a:srgbClr val="6FA3FF"/>
                </a:solidFill>
                <a:latin typeface="Segoe UI"/>
              </a:rPr>
              <a:t>M.Tech in Computer Science and Engineering / Artificial Intelligence and Machine Learning  |  VIT Vellore - 632014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Abstract &amp;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86400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86400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179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PROJECT ABSTRACT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01952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This project implements an enterprise-grade Smart Energy Consumption Visual Analytics platform addressing the operational complexities of modern multi-facility campuses.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It unifies IoT edge-sensor ingestion (ESP32 via MQTT), an automated ETL pipeline with Cooling Degree Hours, an 11-table Star Schema warehouse (52,560 hourly metered readings for FY 2025 across 6 facilities), and advanced machine learning.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Core analytical capabilities include Ridge/Prophet time-series demand forecasting (R² = 0.996), Shewhart 3-sigma anomaly detection (196 operational breaches flagged), and t-SNE 2D clustering across four behavioral archetypes.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Delivery is realized via both a production Power BI Desktop model (50+ DAX measures) and an interactive Apache ECharts Web Dashboard with real-time IoT streaming simulation.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5179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B06A00"/>
                </a:solidFill>
                <a:latin typeface="Segoe UI"/>
              </a:rPr>
              <a:t>CORE OPERATIONAL CHALLENGES ADDRESSED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901952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220">
                <a:solidFill>
                  <a:srgbClr val="3366CC"/>
                </a:solidFill>
                <a:latin typeface="Segoe UI"/>
              </a:rPr>
              <a:t>▪   </a:t>
            </a:r>
            <a:r>
              <a:rPr sz="1220" b="1">
                <a:solidFill>
                  <a:srgbClr val="10245C"/>
                </a:solidFill>
                <a:latin typeface="Segoe UI"/>
              </a:rPr>
              <a:t>Fragmented Telemetry - </a:t>
            </a:r>
            <a:r>
              <a:rPr sz="1220">
                <a:solidFill>
                  <a:srgbClr val="1C1C1C"/>
                </a:solidFill>
                <a:latin typeface="Segoe UI"/>
              </a:rPr>
              <a:t>Smart meters, BMS sensors and bills reside in silos with inconsistent temporal granularity.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220">
                <a:solidFill>
                  <a:srgbClr val="3366CC"/>
                </a:solidFill>
                <a:latin typeface="Segoe UI"/>
              </a:rPr>
              <a:t>▪   </a:t>
            </a:r>
            <a:r>
              <a:rPr sz="1220" b="1">
                <a:solidFill>
                  <a:srgbClr val="10245C"/>
                </a:solidFill>
                <a:latin typeface="Segoe UI"/>
              </a:rPr>
              <a:t>Unmonitored Peak Demand - </a:t>
            </a:r>
            <a:r>
              <a:rPr sz="1220">
                <a:solidFill>
                  <a:srgbClr val="1C1C1C"/>
                </a:solidFill>
                <a:latin typeface="Segoe UI"/>
              </a:rPr>
              <a:t>Summer afternoon coincident peaks trigger severe utility demand charges (INR 350/kW).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220">
                <a:solidFill>
                  <a:srgbClr val="3366CC"/>
                </a:solidFill>
                <a:latin typeface="Segoe UI"/>
              </a:rPr>
              <a:t>▪   </a:t>
            </a:r>
            <a:r>
              <a:rPr sz="1220" b="1">
                <a:solidFill>
                  <a:srgbClr val="10245C"/>
                </a:solidFill>
                <a:latin typeface="Segoe UI"/>
              </a:rPr>
              <a:t>Silent Equipment Runaways - </a:t>
            </a:r>
            <a:r>
              <a:rPr sz="1220">
                <a:solidFill>
                  <a:srgbClr val="1C1C1C"/>
                </a:solidFill>
                <a:latin typeface="Segoe UI"/>
              </a:rPr>
              <a:t>Chillers, AHUs, and exhaust fans left running on weekends remain undetected for billing cycles.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220">
                <a:solidFill>
                  <a:srgbClr val="3366CC"/>
                </a:solidFill>
                <a:latin typeface="Segoe UI"/>
              </a:rPr>
              <a:t>▪   </a:t>
            </a:r>
            <a:r>
              <a:rPr sz="1220" b="1">
                <a:solidFill>
                  <a:srgbClr val="10245C"/>
                </a:solidFill>
                <a:latin typeface="Segoe UI"/>
              </a:rPr>
              <a:t>Inflexible Monthly Reporting - </a:t>
            </a:r>
            <a:r>
              <a:rPr sz="1220">
                <a:solidFill>
                  <a:srgbClr val="1C1C1C"/>
                </a:solidFill>
                <a:latin typeface="Segoe UI"/>
              </a:rPr>
              <a:t>Traditional accounting bills report past spend without forward forecasting or uncertainty bounds.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220">
                <a:solidFill>
                  <a:srgbClr val="3366CC"/>
                </a:solidFill>
                <a:latin typeface="Segoe UI"/>
              </a:rPr>
              <a:t>▪   </a:t>
            </a:r>
            <a:r>
              <a:rPr sz="1220" b="1">
                <a:solidFill>
                  <a:srgbClr val="10245C"/>
                </a:solidFill>
                <a:latin typeface="Segoe UI"/>
              </a:rPr>
              <a:t>Disconnected BI &amp; IoT - </a:t>
            </a:r>
            <a:r>
              <a:rPr sz="1220">
                <a:solidFill>
                  <a:srgbClr val="1C1C1C"/>
                </a:solidFill>
                <a:latin typeface="Segoe UI"/>
              </a:rPr>
              <a:t>Academic IoT prototypes rarely integrate with enterprise dimensional modeling and business intelligence.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Project Objectives &amp;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98448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5477256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46304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01.  End-to-End IoT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10512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Build automated ingestion and ETL pipelines standardizing 52,560 hourly records with strict quality gates.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62656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962656"/>
            <a:ext cx="5477256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12724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02.  Star Schema Data Warehouse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47472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Design an 11-table Kimball dimensional model with fact tables for energy, submeters, forecasts, and anomalies.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626864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626864"/>
            <a:ext cx="5477256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791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03.  ML Demand Forecasting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5138928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Implement time-series demand forecasting with Fourier seasonality and 95% expanding uncertainty bands.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298448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298448"/>
            <a:ext cx="5477256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146304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04.  Statistical Anomaly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810512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Deploy Shewhart 3-sigma control limits to automatically detect and cost operational equipment breaches.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962656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962656"/>
            <a:ext cx="5477256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312724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05.  High-Dimensional Load Profiling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347472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Normalize 24-hour diurnal load vectors and map them to 2D manifold coordinates using t-SNE and K-Means.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626864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9632" y="4626864"/>
            <a:ext cx="5477256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55664" y="4791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06.  Dual Enterprise Serving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5138928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Deliver both an enterprise Power BI model (50+ DAX measures) and an interactive Apache ECharts Web Dashboard.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Literature Review &amp; Synthesis of Core Papers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1">
                <a:solidFill>
                  <a:srgbClr val="555555"/>
                </a:solidFill>
                <a:latin typeface="Segoe UI"/>
              </a:rPr>
              <a:t>Synthesis of six foundational research papers — two papers reviewed per team member: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72768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82496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1: Portugal Energy Distribution (2024)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Vedant Nimkar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6824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DSRM methodology for national hourly &amp; geographic distribution in Power BI.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682496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Adopted star schema, role-specific views, and DSRM lifecycle.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59152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2: Awate et al. (IJARSCT 2023)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Vedant Nimkar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4688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Analyzed 500 residential meters over 24 months with Prophet demand forecasting.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68880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Transitioned to hourly telemetry; integrated Prophet seasonal models.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255264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3: Energy Calculation in Power BI (2023)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Jitesh Bobde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2552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End-to-end dashboard sequence: collection, modeling, visuals, filters.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3255264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Constructed 50+ DAX library, time intelligence, and Power Query M scripts.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31920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41648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4: Soliman &amp; Fetais (IEEE GCCCE 2017)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Jitesh Bobde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0416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Big data visualization of Qatar smart meter network; standardization and speed.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041648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Implemented ETL quality gates, boundary checks, and null treatment.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718304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718304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828032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5: IoT Smart Energy System (IJIRT 2026)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Ayush Sharma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8280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ESP32 voltage/current sensing, MQTT broker, cloud ingestion, fault prediction.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828032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Engineered streaming IoT telemetry simulator emitting 3-phase readings.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504688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504688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14416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6: Interactive ML Dashboard (ESANN 2024)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Ayush Sharma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56144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2D manifold mapping of daily load profiles using t-SNE, sparklines, data cubes.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614416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Normalized 24-hr load vectors with t-SNE projection and K-Means clustering.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End-to-End System &amp; Pipeline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1">
                <a:solidFill>
                  <a:srgbClr val="555555"/>
                </a:solidFill>
                <a:latin typeface="Segoe UI"/>
              </a:rPr>
              <a:t>A decoupled 5-tier production pipeline orchestrating ingestion through dual analytical delivery: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11173968" cy="8412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2377440" cy="84124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1. INGESTION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783080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ESP32 edge-sensor telemetry (MQTT) + batch meter CSVs. Schema validation and boundary enforcement.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32888"/>
            <a:ext cx="11173968" cy="8412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32888"/>
            <a:ext cx="2377440" cy="84124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0720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2. ETL &amp;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15768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Unit standardization (kWh, kVA, kW peak), Cooling Degree Hours (CDH), missing value imputation, foreign-key audit.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65576"/>
            <a:ext cx="11173968" cy="8412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65576"/>
            <a:ext cx="2377440" cy="84124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398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3. STAR SCHEMA WAREHOUSE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648456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11 Fact and Dimension tables (52,560 hourly rows for FY 2025 across 6 facilities). Optimized VertiPaq compression.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98264"/>
            <a:ext cx="11173968" cy="8412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398264"/>
            <a:ext cx="2377440" cy="84124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67258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4. ML ANALYTICS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4581144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Prophet/Ridge regression demand forecasting, Shewhart 3σ statistical anomaly engine, t-SNE 2D manifold clustering.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330952"/>
            <a:ext cx="11173968" cy="8412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330952"/>
            <a:ext cx="2377440" cy="84124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60527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5. DUAL SERVING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5513832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Enterprise Power BI Desktop model (50+ DAX measures) + Interactive Apache ECharts Web Dashboard with live MQTT stream.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Star-Schema Dimensional Warehouse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86400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86400" cy="6400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0245C"/>
                </a:solidFill>
                <a:latin typeface="Segoe UI"/>
              </a:rPr>
              <a:t>WAREHOUSE TABLE INVENTORY &amp; CARDINALITY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Fact_EnergyConsumption (52,560 rows) - </a:t>
            </a:r>
            <a:r>
              <a:rPr sz="1100">
                <a:solidFill>
                  <a:srgbClr val="1C1C1C"/>
                </a:solidFill>
                <a:latin typeface="Segoe UI"/>
              </a:rPr>
              <a:t>Central grain: hourly active power, solar gen, grid import, cost, and anomaly flags.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Fact_ApplianceSubmeter (60,480 rows) - </a:t>
            </a:r>
            <a:r>
              <a:rPr sz="1100">
                <a:solidFill>
                  <a:srgbClr val="1C1C1C"/>
                </a:solidFill>
                <a:latin typeface="Segoe UI"/>
              </a:rPr>
              <a:t>End-use breakdown: HVAC, IT servers, lighting, industrial motors, and auxiliary.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Fact_DemandForecast (395 rows) - </a:t>
            </a:r>
            <a:r>
              <a:rPr sz="1100">
                <a:solidFill>
                  <a:srgbClr val="1C1C1C"/>
                </a:solidFill>
                <a:latin typeface="Segoe UI"/>
              </a:rPr>
              <a:t>Historical observed demand + 30-day forward ML projection with 95% confidence bounds.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Fact_Anomalies_Detailed (196 rows) - </a:t>
            </a:r>
            <a:r>
              <a:rPr sz="1100">
                <a:solidFill>
                  <a:srgbClr val="1C1C1C"/>
                </a:solidFill>
                <a:latin typeface="Segoe UI"/>
              </a:rPr>
              <a:t>Rolling baseline breaches with excess energy (kWh), wasted cost (INR), and root cause.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Fact_LoadClusters (2,190 rows) - </a:t>
            </a:r>
            <a:r>
              <a:rPr sz="1100">
                <a:solidFill>
                  <a:srgbClr val="1C1C1C"/>
                </a:solidFill>
                <a:latin typeface="Segoe UI"/>
              </a:rPr>
              <a:t>24-hour normalized load vectors mapped to 2D t-SNE coordinates and cluster IDs.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DIMENSIONAL ATTRIBUTES &amp; QUALITY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Dim_Facility (6 rows) - </a:t>
            </a:r>
            <a:r>
              <a:rPr sz="1100">
                <a:solidFill>
                  <a:srgbClr val="1C1C1C"/>
                </a:solidFill>
                <a:latin typeface="Segoe UI"/>
              </a:rPr>
              <a:t>Facility name, square footage, baseline kW, peak design kW, solar kWp, and Energy Star score.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Dim_Tariff (3 rows) - </a:t>
            </a:r>
            <a:r>
              <a:rPr sz="1100">
                <a:solidFill>
                  <a:srgbClr val="1C1C1C"/>
                </a:solidFill>
                <a:latin typeface="Segoe UI"/>
              </a:rPr>
              <a:t>Time-of-Use tariffs (HT-ToU, LT-ToU, Residential) with Peak, Shoulder, and Off-Peak rates.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Dim_Date &amp; Dim_Time (731 + 24 rows) - </a:t>
            </a:r>
            <a:r>
              <a:rPr sz="1100">
                <a:solidFill>
                  <a:srgbClr val="1C1C1C"/>
                </a:solidFill>
                <a:latin typeface="Segoe UI"/>
              </a:rPr>
              <a:t>Calendar hierarchies, day parts, weekend indicators, and peak tariff flags.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Dim_Weather (17,544 rows) - </a:t>
            </a:r>
            <a:r>
              <a:rPr sz="1100">
                <a:solidFill>
                  <a:srgbClr val="1C1C1C"/>
                </a:solidFill>
                <a:latin typeface="Segoe UI"/>
              </a:rPr>
              <a:t>Ambient temperature, relative humidity, solar irradiance, and Cooling Degree Hours (CDH).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Referential Integrity Gate - </a:t>
            </a:r>
            <a:r>
              <a:rPr sz="1100">
                <a:solidFill>
                  <a:srgbClr val="1C1C1C"/>
                </a:solidFill>
                <a:latin typeface="Segoe UI"/>
              </a:rPr>
              <a:t>100% verified foreign key consistency; zero orphaned records or unmapped tariffs.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24x7 Diurnal Load-Profile Heatmap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load_profile_heatmap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9276" y="1188720"/>
            <a:ext cx="4833143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Hourly load intensity (kW) across day-of-week and hour-of-day for the complete campus micro-grid.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OPERATIONAL 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Reveals consistent morning ramp at 08:30, high plateau during working hours (09:00 - 17:00), coincident peak (14:00 - 17:00), and sharp weekend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POWER BI &amp; ECHARTS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Rendered as an interactive matrix visual in Power BI with conditional color gradient and in ECharts with dynamic visualMap range filtering.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STRATEGIC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Directs equipment pre-cooling and load staggering specifically at peak tariff hours rather than broad day-long curtailment.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2 (hourly granularity) and Paper 6 (visual analytics)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Prophet/Ridge Time-Series Demand Forecasting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prophet_demand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694" y="1188720"/>
            <a:ext cx="6128307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30-day forward demand trajectory with expanding 95% prediction confidence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MODEL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R² = 0.996, MAPE = 0.61%, MAE = 270.1 kWh on a 30-day holdout validation horizon using Fourier harmonic decomposition.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WEATHER COUPLING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Explicitly incorporates Cooling Degree Hours (CDH) to model non-linear summer chiller surges as ambient temperature exceeds 24°C.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CAPACITY PLANNING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Enables utility procurement and contract demand setting against an expected range rather than unreliable single-point estimates.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2 (Prophet forecasting) and Paper 5 (regression forecasting)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Shewhart 3-Sigma Automated Anomaly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anomaly_detection_control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443" y="1188720"/>
            <a:ext cx="6050809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Real-time telemetry evaluated against centered rolling Shewhart ±3σ statistical control limits.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Segoe UI"/>
              </a:rPr>
              <a:t>BREACH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Identified 196 operational breaches. Successfully caught a weekend chiller runaway in Main Tech Tower (+280 kWh/h) wasting INR 64,400.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AUTOMATED TRIAGE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Replaces passive end-of-month utility bill review with automated hourly alerts, classifying events by severity (Critical vs Warning).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ROOT CAUSE ISOLATION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Distinguishes weather-induced surges from true faults (e.g., night baseload leaks, solar inverter midday dropouts).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4 (outlier handling) and Paper 5 (fault anticipation)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t-SNE 2D Manifold Load-Shape Clustering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tsne_load_shape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456" y="1188720"/>
            <a:ext cx="4276782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Non-linear projection of 24-dimensional diurnal load vectors into four distinct operational archetypes.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FOUR ARCHETYPES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Cluster 1: Commercial Day-Shift Heavy (Blue); Cluster 2: Continuous Baseload (Green); Cluster 3: Residential Hostels (Amber); Cluster 4: Weekend Idle (Purple).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NORMALIZED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Vectors are min-max normalized by daily peak load to cluster buildings by behavioral schedule rather than absolute size.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TARGETED POLICIES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Allows demand-management initiatives to be customized per cluster (e.g. hostel evening shifting vs tech tower pre-cooling).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6 (t-SNE load profiling and morphing projections)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Facility Benchmarking &amp; Top-N Sparklines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topn_facility_spark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923" y="1188720"/>
            <a:ext cx="6905849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Annual consumption ranking with inline monthly sparklines, category tags, and Energy Star ratings.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PARETO CONCENTRATION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Main Tech Tower (5.34 GWh) and Data Center (4.88 GWh) account for over 52.8% of total campus energy expenditure.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MOMENTUM &amp; TREND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Inline sparklines allow facility managers to instantly separate entities with accelerating consumption from those improving.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PORTFOLIO 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Integrates Energy Star scores (76 to 91) and floor area benchmarking (kWh/sq.ft) to prioritize retrofit capital expenditure.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2 (consumer ranking) and Paper 6 (sparklines)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Appliance Submetering &amp; End-Use Breakdown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appliance_submeter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4992" y="1188720"/>
            <a:ext cx="3681710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Campus-wide disaggregation across major electrical submetering categories.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CHILLER DOMINANCE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HVAC &amp; Chillers constitute 42.0% (8.13 GWh) of total campus consumption, representing the single largest target for optimization.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INFLEXIBLE BASELOAD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Server &amp; IT Infrastructure contributes 22.0% (4.26 GWh), operating at an uninterrupted continuous flat load curve.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CONTROLLABLE LOADS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Lighting (18.0%) and Machinery (12.0%) offer rapid payback opportunities through automated occupancy sensors and VFD retrofits.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3 (appliance calculations) and Paper 1 (submetering)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Renewable Solar Flow &amp; Grid Balance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solar_vs_grid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964" y="1188720"/>
            <a:ext cx="5279766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Average diurnal power flow comparing total demand, solar generation, and net grid import.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SOLAR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Total annual solar generation of 1.14 GWh across 590 kWp installed rooftop capacity (5.9% total campus penetration).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PEAK OFFSET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Solar peaks between 11:00 and 14:00, perfectly coinciding with rising daytime cooling demand and shaving contract grid draw.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CARBON ABATEMENT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Directly offsets 936.8 metric tons of CO2e annually (CEA grid emission factor of 0.82 kg/kWh), equivalent to ~42,500 trees.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Integrates Papers 1, 3, 4 and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Interactive Apache ECharts &amp; Web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86400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86400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APACHE ECHARTS INTERACTIVE 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Rich Visual Aesthetics - </a:t>
            </a:r>
            <a:r>
              <a:rPr sz="1100">
                <a:solidFill>
                  <a:srgbClr val="1C1C1C"/>
                </a:solidFill>
                <a:latin typeface="Segoe UI"/>
              </a:rPr>
              <a:t>Engineered with Apache ECharts 5.5, dark cyber-glassmorphism, smooth bezier curves, and gradient area fills.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24x7 Heatmap with visualMap - </a:t>
            </a:r>
            <a:r>
              <a:rPr sz="1100">
                <a:solidFill>
                  <a:srgbClr val="1C1C1C"/>
                </a:solidFill>
                <a:latin typeface="Segoe UI"/>
              </a:rPr>
              <a:t>Interactive continuous slider allows real-time dynamic filtering of load intensity cells.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Reactive Global Slicers - </a:t>
            </a:r>
            <a:r>
              <a:rPr sz="1100">
                <a:solidFill>
                  <a:srgbClr val="1C1C1C"/>
                </a:solidFill>
                <a:latin typeface="Segoe UI"/>
              </a:rPr>
              <a:t>Dropdown facility selector instantly updates all KPI cards, diurnal curves, and highlights t-SNE scatter points.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Submeter Nightingale Donut - </a:t>
            </a:r>
            <a:r>
              <a:rPr sz="1100">
                <a:solidFill>
                  <a:srgbClr val="1C1C1C"/>
                </a:solidFill>
                <a:latin typeface="Segoe UI"/>
              </a:rPr>
              <a:t>Rounded-corner doughnut layout with hover expansion and center metric summary.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Zero Cloud Dependencies - </a:t>
            </a:r>
            <a:r>
              <a:rPr sz="1100">
                <a:solidFill>
                  <a:srgbClr val="1C1C1C"/>
                </a:solidFill>
                <a:latin typeface="Segoe UI"/>
              </a:rPr>
              <a:t>Bundled standalone echarts.min.js and dashboard_data.js for 100% offline local execution.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E7A4F"/>
                </a:solidFill>
                <a:latin typeface="Segoe UI"/>
              </a:rPr>
              <a:t>LIVE IOT SENSOR STREAMING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Live ESP32 MQTT Emulation - </a:t>
            </a:r>
            <a:r>
              <a:rPr sz="1100">
                <a:solidFill>
                  <a:srgbClr val="1C1C1C"/>
                </a:solidFill>
                <a:latin typeface="Segoe UI"/>
              </a:rPr>
              <a:t>Simulates incoming sensor packets every 1.5s with realistic 3-phase electrical noise and occasional surge anomalies.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Real-Time ECharts Gauge - </a:t>
            </a:r>
            <a:r>
              <a:rPr sz="1100">
                <a:solidFill>
                  <a:srgbClr val="1C1C1C"/>
                </a:solidFill>
                <a:latin typeface="Segoe UI"/>
              </a:rPr>
              <a:t>Animated power gauge meter dynamically tracking instantaneous active demand against operational thresholds.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Rolling Oscilloscope Chart - </a:t>
            </a:r>
            <a:r>
              <a:rPr sz="1100">
                <a:solidFill>
                  <a:srgbClr val="1C1C1C"/>
                </a:solidFill>
                <a:latin typeface="Segoe UI"/>
              </a:rPr>
              <a:t>Live 30-point rolling waveform displaying real-time power fluctuations and voltage stability.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Live Terminal Ingestion Log - </a:t>
            </a:r>
            <a:r>
              <a:rPr sz="1100">
                <a:solidFill>
                  <a:srgbClr val="1C1C1C"/>
                </a:solidFill>
                <a:latin typeface="Segoe UI"/>
              </a:rPr>
              <a:t>Timestamped MQTT JSON messages logged live with packet counter, latency monitor, and quality flag.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Anomaly Inspector Modal - </a:t>
            </a:r>
            <a:r>
              <a:rPr sz="1100">
                <a:solidFill>
                  <a:srgbClr val="1C1C1C"/>
                </a:solidFill>
                <a:latin typeface="Segoe UI"/>
              </a:rPr>
              <a:t>Tabular event log displaying excess kW, root cause, and wasted financial cost for every detected breach.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Enterprise Power BI Architecture (.pbip, TMDL &amp; PBIR)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77256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77256" cy="6400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0245C"/>
                </a:solidFill>
                <a:latin typeface="Segoe UI"/>
              </a:rPr>
              <a:t>TMDL GIT-INTEGRATED SEMANTIC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Migration to .PBIP Format - </a:t>
            </a:r>
            <a:r>
              <a:rPr sz="1100">
                <a:solidFill>
                  <a:srgbClr val="1C1C1C"/>
                </a:solidFill>
                <a:latin typeface="Segoe UI"/>
              </a:rPr>
              <a:t>Transitioned from fragile binary .pbix packages to Microsoft Fabric's official Power BI Project format (.pbip) for seamless version control.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TMDL Schema Definition - </a:t>
            </a:r>
            <a:r>
              <a:rPr sz="1100">
                <a:solidFill>
                  <a:srgbClr val="1C1C1C"/>
                </a:solidFill>
                <a:latin typeface="Segoe UI"/>
              </a:rPr>
              <a:t>Human-readable Tabular Model Definition Language files in SemanticModel/definition/ storing 11 tables and full model metadata.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12 Enterprise DAX Measures - </a:t>
            </a:r>
            <a:r>
              <a:rPr sz="1100">
                <a:solidFill>
                  <a:srgbClr val="1C1C1C"/>
                </a:solidFill>
                <a:latin typeface="Segoe UI"/>
              </a:rPr>
              <a:t>Measures for Total GWh, Electricity Spend (Cr), Peak kW, Solar Penetration %, Power Factor, and Carbon Offsets with full lineage tags.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Power Query M Ingestion - </a:t>
            </a:r>
            <a:r>
              <a:rPr sz="1100">
                <a:solidFill>
                  <a:srgbClr val="1C1C1C"/>
                </a:solidFill>
                <a:latin typeface="Segoe UI"/>
              </a:rPr>
              <a:t>Automated CSV partition expressions mapping timestamp, electrical parameters, tariffs, and CDH weather inputs with strict typing.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Zero-BOM Serialization - </a:t>
            </a:r>
            <a:r>
              <a:rPr sz="1100">
                <a:solidFill>
                  <a:srgbClr val="1C1C1C"/>
                </a:solidFill>
                <a:latin typeface="Segoe UI"/>
              </a:rPr>
              <a:t>Engineered clean UTF-16LE encoding (without BOM) resolving PowerBIFileSerializer DiagramLayout parser exceptions natively.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PBIR MULTI-PAGE VISUAL REPORT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Page 1: Executive Overview - </a:t>
            </a:r>
            <a:r>
              <a:rPr sz="1100">
                <a:solidFill>
                  <a:srgbClr val="1C1C1C"/>
                </a:solidFill>
                <a:latin typeface="Segoe UI"/>
              </a:rPr>
              <a:t>6 KPI summary cards, 24-hr diurnal power flow line chart, facility consumption bar chart, and substation slicers.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Page 2: Load Profiling &amp; Matrix - </a:t>
            </a:r>
            <a:r>
              <a:rPr sz="1100">
                <a:solidFill>
                  <a:srgbClr val="1C1C1C"/>
                </a:solidFill>
                <a:latin typeface="Segoe UI"/>
              </a:rPr>
              <a:t>Interactive 24x7 hour-by-day heatmap matrix, end-use submetering donut chart, and high-energy appliance ranking tables.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Page 3: ML Forecast &amp; Anomaly Audit - </a:t>
            </a:r>
            <a:r>
              <a:rPr sz="1100">
                <a:solidFill>
                  <a:srgbClr val="1C1C1C"/>
                </a:solidFill>
                <a:latin typeface="Segoe UI"/>
              </a:rPr>
              <a:t>168-hour Ridge/Prophet demand forecast with 95% confidence bands, Shewhart ±3σ control limits, and breach audit log.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23 Dedicated Visual Containers - </a:t>
            </a:r>
            <a:r>
              <a:rPr sz="1100">
                <a:solidFill>
                  <a:srgbClr val="1C1C1C"/>
                </a:solidFill>
                <a:latin typeface="Segoe UI"/>
              </a:rPr>
              <a:t>Structured PBIR JSON visual definitions with custom positioning, tab orders, query states, and cross-filtering rules.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1-Click Native Desktop Launch - </a:t>
            </a:r>
            <a:r>
              <a:rPr sz="1100">
                <a:solidFill>
                  <a:srgbClr val="1C1C1C"/>
                </a:solidFill>
                <a:latin typeface="Segoe UI"/>
              </a:rPr>
              <a:t>Opens seamlessly in Microsoft Power BI Desktop (v2.157+ / Aug 2026) with automatic VertiPaq model compilation in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Cloud Production Deployment &amp; Continuous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77256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77256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VERCEL EDGE SERVERLESS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Live Production Deployment - </a:t>
            </a:r>
            <a:r>
              <a:rPr sz="1100">
                <a:solidFill>
                  <a:srgbClr val="1C1C1C"/>
                </a:solidFill>
                <a:latin typeface="Segoe UI"/>
              </a:rPr>
              <a:t>Publicly accessible worldwide at https://webdashboard-eta.vercel.app with zero cold-starts and global CDN caching.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Dual-Platform Delivery - </a:t>
            </a:r>
            <a:r>
              <a:rPr sz="1100">
                <a:solidFill>
                  <a:srgbClr val="1C1C1C"/>
                </a:solidFill>
                <a:latin typeface="Segoe UI"/>
              </a:rPr>
              <a:t>Eliminates software dependency barriers: Power BI Desktop for offline analysts; responsive Web App for browser &amp; mobile access.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Cyber-Slate Glassmorphism - </a:t>
            </a:r>
            <a:r>
              <a:rPr sz="1100">
                <a:solidFill>
                  <a:srgbClr val="1C1C1C"/>
                </a:solidFill>
                <a:latin typeface="Segoe UI"/>
              </a:rPr>
              <a:t>High-contrast palette (#0b1120 background, #f8fafc text) exceeding WCAG AA standards with fluid micro-animations.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8 Synchronized ECharts - </a:t>
            </a:r>
            <a:r>
              <a:rPr sz="1100">
                <a:solidFill>
                  <a:srgbClr val="1C1C1C"/>
                </a:solidFill>
                <a:latin typeface="Segoe UI"/>
              </a:rPr>
              <a:t>Diurnal flow, 24x7 matrix heatmap, facility benchmarking, Prophet forecast, Shewhart control limits, t-SNE 2D manifold, and submetering.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Cache-Control Architecture - </a:t>
            </a:r>
            <a:r>
              <a:rPr sz="1100">
                <a:solidFill>
                  <a:srgbClr val="1C1C1C"/>
                </a:solidFill>
                <a:latin typeface="Segoe UI"/>
              </a:rPr>
              <a:t>Automated zero-cache headers (max-age=0, must-revalidate) preventing stale analytical assets across edge nodes.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E7A4F"/>
                </a:solidFill>
                <a:latin typeface="Segoe UI"/>
              </a:rPr>
              <a:t>GITHUB CI/CD &amp; TELEMETRY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Automated Git Versioning - </a:t>
            </a:r>
            <a:r>
              <a:rPr sz="1100">
                <a:solidFill>
                  <a:srgbClr val="1C1C1C"/>
                </a:solidFill>
                <a:latin typeface="Segoe UI"/>
              </a:rPr>
              <a:t>Complete project hosted at https://github.com/adminsharpcode/visual-analytics-lab with clean modular commit history.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Self-Contained Data Warehouse - </a:t>
            </a:r>
            <a:r>
              <a:rPr sz="1100">
                <a:solidFill>
                  <a:srgbClr val="1C1C1C"/>
                </a:solidFill>
                <a:latin typeface="Segoe UI"/>
              </a:rPr>
              <a:t>All 11 star schema CSVs (52.5k rows), ETL modules, and analytics scripts fully reproducible in single clone.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Live Telemetry Emulation - </a:t>
            </a:r>
            <a:r>
              <a:rPr sz="1100">
                <a:solidFill>
                  <a:srgbClr val="1C1C1C"/>
                </a:solidFill>
                <a:latin typeface="Segoe UI"/>
              </a:rPr>
              <a:t>Continuous ESP32 MQTT simulation engine pushing instantaneous 3-phase readings with dynamic voltage fluctuation.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Academic Integrity &amp; Compliance - </a:t>
            </a:r>
            <a:r>
              <a:rPr sz="1100">
                <a:solidFill>
                  <a:srgbClr val="1C1C1C"/>
                </a:solidFill>
                <a:latin typeface="Segoe UI"/>
              </a:rPr>
              <a:t>Fully documented research methodology referencing all 6 core papers with reproducible benchmark scripts.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Production Artifacts - </a:t>
            </a:r>
            <a:r>
              <a:rPr sz="1100">
                <a:solidFill>
                  <a:srgbClr val="1C1C1C"/>
                </a:solidFill>
                <a:latin typeface="Segoe UI"/>
              </a:rPr>
              <a:t>Includes automated PDF generation script, defense PPT presentation deck, and interactive web dashboard server.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Decision Support &amp; Financial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77256" cy="22402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77256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10245C"/>
                </a:solidFill>
                <a:latin typeface="Segoe UI"/>
              </a:rPr>
              <a:t>Peak Shaving 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Shifting HVAC load via 11:00-13:00 pre-cooling reduces contract demand by 15%, saving an estimated INR 18.5 Lakhs annually in tariff demand charges.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94760"/>
            <a:ext cx="5477256" cy="22402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794760"/>
            <a:ext cx="5477256" cy="6400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9592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10245C"/>
                </a:solidFill>
                <a:latin typeface="Segoe UI"/>
              </a:rPr>
              <a:t>Weekend Equipment Shutdown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484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Automated Shewhart 3σ alerts prevent unmonitored chiller runaways, eliminating ~INR 2.84 Lakhs in avoidable weekend waste.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1371600"/>
            <a:ext cx="5477256" cy="22402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5477256" cy="6400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10245C"/>
                </a:solidFill>
                <a:latin typeface="Segoe UI"/>
              </a:rPr>
              <a:t>Targeted Solar 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01168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Analysis pinpoints Computing Wing C (4.88 GWh baseload, 0% solar) as the highest-return location for a 350 kWp carport solar PV array.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3794760"/>
            <a:ext cx="5477256" cy="22402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794760"/>
            <a:ext cx="5477256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99592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10245C"/>
                </a:solidFill>
                <a:latin typeface="Segoe UI"/>
              </a:rPr>
              <a:t>Power Factor Correction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43484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Continuous monitoring of reactive power (kVARh) maintains power factor above 0.95, avoiding utility penalty surcharges.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Project Summary &amp; Quantitative Achievements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11173968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11173968" cy="6400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10245C"/>
                </a:solidFill>
                <a:latin typeface="Segoe UI"/>
              </a:rPr>
              <a:t>KEY QUANTITATIVE DELIVERABLES (FY 2025)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96596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96596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756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Total Active 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350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19.35 GWh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14884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52,560 hourly metered readings across 6 campus facilities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92608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292608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03580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Electricity Spend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101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₹13.20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108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Time-of-Use tariff structure with peak penalty accounting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88620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388620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99592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Solar 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70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1.14 GWh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0690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5.90% Renewable penetration from 590 kWp installed PV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84632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84632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5604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Campus Peak Demand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2303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2,840 kW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02920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Coincident summer cooling peak recorded in June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96596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196596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0756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Carbon Offset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350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936.8 tCO2e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214884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Direct clean generation abatement (0.82 kg/kWh CEA factor)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92608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92608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03580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Forecasting Accuracy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3101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R² = 0.996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3108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MAPE = 0.61%, MAE = 270.1 kWh on 30-day holdout validation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388620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399592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Operational Breaches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270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196 Flagged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40690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Shewhart ±3σ control limits identifying equipment leaks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84632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920" y="484632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495604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Dual Delivery Serving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52303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Cloud &amp; Native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02920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Power BI Desktop (.pbip) &amp; Vercel Web Dashboard (ECharts)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