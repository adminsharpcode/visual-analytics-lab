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73152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6FA3FF"/>
                </a:solidFill>
                <a:latin typeface="Segoe UI"/>
              </a:rPr>
              <a:t>MACSE603 - VISUAL ANALYTICS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3366CC"/>
                </a:solidFill>
                <a:latin typeface="Segoe UI"/>
              </a:rPr>
              <a:t>ACADEMIC FINAL PROJECT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800" b="1" i="0">
                <a:solidFill>
                  <a:srgbClr val="10245C"/>
                </a:solidFill>
                <a:latin typeface="Segoe UI"/>
              </a:rPr>
              <a:t>Smart Energy Consumption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800" b="1" i="0">
                <a:solidFill>
                  <a:srgbClr val="10245C"/>
                </a:solidFill>
                <a:latin typeface="Segoe UI"/>
              </a:rPr>
              <a:t>Visualization Dashboard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 i="0">
                <a:solidFill>
                  <a:srgbClr val="3366CC"/>
                </a:solidFill>
                <a:latin typeface="Segoe UI"/>
              </a:rPr>
              <a:t>Using Power BI &amp; IoT Pipelines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584448"/>
            <a:ext cx="12801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555555"/>
                </a:solidFill>
                <a:latin typeface="Segoe UI"/>
              </a:rPr>
              <a:t>PROJECT TEAM MEMBERS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251960"/>
            <a:ext cx="3401568" cy="13716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251960"/>
            <a:ext cx="3401568" cy="6400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48056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50" b="1" i="0">
                <a:solidFill>
                  <a:srgbClr val="10245C"/>
                </a:solidFill>
                <a:latin typeface="Segoe UI"/>
              </a:rPr>
              <a:t>Vedant Nimkar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  <a:latin typeface="Segoe UI"/>
              </a:rPr>
              <a:t>Reg. No. 26MML0045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E7A4F"/>
                </a:solidFill>
                <a:latin typeface="Segoe UI"/>
              </a:rPr>
              <a:t>TEAM LEADER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4251960"/>
            <a:ext cx="3401568" cy="13716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4251960"/>
            <a:ext cx="3401568" cy="6400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448056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50" b="1" i="0">
                <a:solidFill>
                  <a:srgbClr val="10245C"/>
                </a:solidFill>
                <a:latin typeface="Segoe UI"/>
              </a:rPr>
              <a:t>Jitesh Bobde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  <a:latin typeface="Segoe UI"/>
              </a:rPr>
              <a:t>Reg. No. 26MML0025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3366CC"/>
                </a:solidFill>
                <a:latin typeface="Segoe UI"/>
              </a:rPr>
              <a:t>MEMBER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6" y="4251960"/>
            <a:ext cx="3401568" cy="13716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6" y="4251960"/>
            <a:ext cx="3401568" cy="6400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448056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50" b="1" i="0">
                <a:solidFill>
                  <a:srgbClr val="10245C"/>
                </a:solidFill>
                <a:latin typeface="Segoe UI"/>
              </a:rPr>
              <a:t>Ayush Sharma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  <a:latin typeface="Segoe UI"/>
              </a:rPr>
              <a:t>Reg. No. 26MML0043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3366CC"/>
                </a:solidFill>
                <a:latin typeface="Segoe UI"/>
              </a:rPr>
              <a:t>MEMBER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7044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1">
                <a:solidFill>
                  <a:srgbClr val="555555"/>
                </a:solidFill>
                <a:latin typeface="Segoe UI"/>
              </a:rPr>
              <a:t>Full Implementation: Star Schema (52.5k rows) • ML Demand Forecast • Shewhart 3σ Anomalies • Apache ECharts &amp; Power 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629400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6FA3FF"/>
                </a:solidFill>
                <a:latin typeface="Segoe UI"/>
              </a:rPr>
              <a:t>M.Tech -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Abstract &amp; 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61872"/>
            <a:ext cx="5486400" cy="489204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61872"/>
            <a:ext cx="5486400" cy="6400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1790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3366CC"/>
                </a:solidFill>
                <a:latin typeface="Segoe UI"/>
              </a:rPr>
              <a:t>PROJECT ABSTRACT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01952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0" i="0">
                <a:solidFill>
                  <a:srgbClr val="1C1C1C"/>
                </a:solidFill>
                <a:latin typeface="Segoe UI"/>
              </a:rPr>
              <a:t>This project implements an enterprise-grade Smart Energy Consumption Visual Analytics platform addressing the operational complexities of modern multi-facility campuses.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0" i="0">
                <a:solidFill>
                  <a:srgbClr val="1C1C1C"/>
                </a:solidFill>
                <a:latin typeface="Segoe UI"/>
              </a:rPr>
              <a:t>It unifies IoT edge-sensor ingestion (ESP32 via MQTT), an automated ETL pipeline with Cooling Degree Hours, an 11-table Star Schema warehouse (52,560 hourly metered readings for FY 2025 across 6 facilities), and advanced machine learning.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0" i="0">
                <a:solidFill>
                  <a:srgbClr val="1C1C1C"/>
                </a:solidFill>
                <a:latin typeface="Segoe UI"/>
              </a:rPr>
              <a:t>Core analytical capabilities include Ridge/Prophet time-series demand forecasting (R² = 0.996), Shewhart 3-sigma anomaly detection (196 operational breaches flagged), and t-SNE 2D clustering across four behavioral archetypes.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1C1C1C"/>
                </a:solidFill>
                <a:latin typeface="Segoe UI"/>
              </a:rPr>
              <a:t>Delivery is realized via both a production Power BI Desktop model (50+ DAX measures) and an interactive Apache ECharts Web Dashboard with real-time IoT streaming simulation.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261872"/>
            <a:ext cx="5477256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261872"/>
            <a:ext cx="5477256" cy="64008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51790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B06A00"/>
                </a:solidFill>
                <a:latin typeface="Segoe UI"/>
              </a:rPr>
              <a:t>CORE OPERATIONAL CHALLENGES ADDRESSED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901952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20">
                <a:solidFill>
                  <a:srgbClr val="3366CC"/>
                </a:solidFill>
                <a:latin typeface="Segoe UI"/>
              </a:rPr>
              <a:t>▪   </a:t>
            </a:r>
            <a:r>
              <a:rPr sz="1220" b="1">
                <a:solidFill>
                  <a:srgbClr val="10245C"/>
                </a:solidFill>
                <a:latin typeface="Segoe UI"/>
              </a:rPr>
              <a:t>Fragmented Telemetry - </a:t>
            </a:r>
            <a:r>
              <a:rPr sz="1220">
                <a:solidFill>
                  <a:srgbClr val="1C1C1C"/>
                </a:solidFill>
                <a:latin typeface="Segoe UI"/>
              </a:rPr>
              <a:t>Smart meters, BMS sensors and bills reside in silos with inconsistent temporal granularity.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20">
                <a:solidFill>
                  <a:srgbClr val="3366CC"/>
                </a:solidFill>
                <a:latin typeface="Segoe UI"/>
              </a:rPr>
              <a:t>▪   </a:t>
            </a:r>
            <a:r>
              <a:rPr sz="1220" b="1">
                <a:solidFill>
                  <a:srgbClr val="10245C"/>
                </a:solidFill>
                <a:latin typeface="Segoe UI"/>
              </a:rPr>
              <a:t>Unmonitored Peak Demand - </a:t>
            </a:r>
            <a:r>
              <a:rPr sz="1220">
                <a:solidFill>
                  <a:srgbClr val="1C1C1C"/>
                </a:solidFill>
                <a:latin typeface="Segoe UI"/>
              </a:rPr>
              <a:t>Summer afternoon coincident peaks trigger severe utility demand charges (INR 350/kW).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20">
                <a:solidFill>
                  <a:srgbClr val="3366CC"/>
                </a:solidFill>
                <a:latin typeface="Segoe UI"/>
              </a:rPr>
              <a:t>▪   </a:t>
            </a:r>
            <a:r>
              <a:rPr sz="1220" b="1">
                <a:solidFill>
                  <a:srgbClr val="10245C"/>
                </a:solidFill>
                <a:latin typeface="Segoe UI"/>
              </a:rPr>
              <a:t>Silent Equipment Runaways - </a:t>
            </a:r>
            <a:r>
              <a:rPr sz="1220">
                <a:solidFill>
                  <a:srgbClr val="1C1C1C"/>
                </a:solidFill>
                <a:latin typeface="Segoe UI"/>
              </a:rPr>
              <a:t>Chillers, AHUs, and exhaust fans left running on weekends remain undetected for billing cycles.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20">
                <a:solidFill>
                  <a:srgbClr val="3366CC"/>
                </a:solidFill>
                <a:latin typeface="Segoe UI"/>
              </a:rPr>
              <a:t>▪   </a:t>
            </a:r>
            <a:r>
              <a:rPr sz="1220" b="1">
                <a:solidFill>
                  <a:srgbClr val="10245C"/>
                </a:solidFill>
                <a:latin typeface="Segoe UI"/>
              </a:rPr>
              <a:t>Inflexible Monthly Reporting - </a:t>
            </a:r>
            <a:r>
              <a:rPr sz="1220">
                <a:solidFill>
                  <a:srgbClr val="1C1C1C"/>
                </a:solidFill>
                <a:latin typeface="Segoe UI"/>
              </a:rPr>
              <a:t>Traditional accounting bills report past spend without forward forecasting or uncertainty bounds.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20">
                <a:solidFill>
                  <a:srgbClr val="3366CC"/>
                </a:solidFill>
                <a:latin typeface="Segoe UI"/>
              </a:rPr>
              <a:t>▪   </a:t>
            </a:r>
            <a:r>
              <a:rPr sz="1220" b="1">
                <a:solidFill>
                  <a:srgbClr val="10245C"/>
                </a:solidFill>
                <a:latin typeface="Segoe UI"/>
              </a:rPr>
              <a:t>Disconnected BI &amp; IoT - </a:t>
            </a:r>
            <a:r>
              <a:rPr sz="1220">
                <a:solidFill>
                  <a:srgbClr val="1C1C1C"/>
                </a:solidFill>
                <a:latin typeface="Segoe UI"/>
              </a:rPr>
              <a:t>Academic IoT prototypes rarely integrate with enterprise dimensional modeling and business intelligence.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 &amp; IoT Pipelines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Project Objectives &amp;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5477256" cy="1536192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5477256" cy="54864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6304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0245C"/>
                </a:solidFill>
                <a:latin typeface="Segoe UI"/>
              </a:rPr>
              <a:t>01.  End-to-End IoT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10512"/>
            <a:ext cx="49377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0" i="0">
                <a:solidFill>
                  <a:srgbClr val="1C1C1C"/>
                </a:solidFill>
                <a:latin typeface="Segoe UI"/>
              </a:rPr>
              <a:t>Build automated ingestion and ETL pipelines standardizing 52,560 hourly records with strict quality gates.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62656"/>
            <a:ext cx="5477256" cy="1536192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962656"/>
            <a:ext cx="5477256" cy="54864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127248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0245C"/>
                </a:solidFill>
                <a:latin typeface="Segoe UI"/>
              </a:rPr>
              <a:t>02.  Star Schema Data Warehouse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474720"/>
            <a:ext cx="49377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0" i="0">
                <a:solidFill>
                  <a:srgbClr val="1C1C1C"/>
                </a:solidFill>
                <a:latin typeface="Segoe UI"/>
              </a:rPr>
              <a:t>Design an 11-table Kimball dimensional model with fact tables for energy, submeters, forecasts, and anomalies.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626864"/>
            <a:ext cx="5477256" cy="1536192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626864"/>
            <a:ext cx="5477256" cy="54864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791456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0245C"/>
                </a:solidFill>
                <a:latin typeface="Segoe UI"/>
              </a:rPr>
              <a:t>03.  ML Demand Forecasting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138928"/>
            <a:ext cx="49377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0" i="0">
                <a:solidFill>
                  <a:srgbClr val="1C1C1C"/>
                </a:solidFill>
                <a:latin typeface="Segoe UI"/>
              </a:rPr>
              <a:t>Implement time-series demand forecasting with Fourier seasonality and 95% expanding uncertainty bands.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1298448"/>
            <a:ext cx="5477256" cy="1536192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1298448"/>
            <a:ext cx="5477256" cy="54864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146304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0245C"/>
                </a:solidFill>
                <a:latin typeface="Segoe UI"/>
              </a:rPr>
              <a:t>04.  Statistical Anomaly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1810512"/>
            <a:ext cx="49377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0" i="0">
                <a:solidFill>
                  <a:srgbClr val="1C1C1C"/>
                </a:solidFill>
                <a:latin typeface="Segoe UI"/>
              </a:rPr>
              <a:t>Deploy Shewhart 3-sigma control limits to automatically detect and cost operational equipment breaches.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2962656"/>
            <a:ext cx="5477256" cy="1536192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2" y="2962656"/>
            <a:ext cx="5477256" cy="54864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3127248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0245C"/>
                </a:solidFill>
                <a:latin typeface="Segoe UI"/>
              </a:rPr>
              <a:t>05.  High-Dimensional Load Profiling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3474720"/>
            <a:ext cx="49377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0" i="0">
                <a:solidFill>
                  <a:srgbClr val="1C1C1C"/>
                </a:solidFill>
                <a:latin typeface="Segoe UI"/>
              </a:rPr>
              <a:t>Normalize 24-hour diurnal load vectors and map them to 2D manifold coordinates using t-SNE and K-Means.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4626864"/>
            <a:ext cx="5477256" cy="1536192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2" y="4626864"/>
            <a:ext cx="5477256" cy="54864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4791456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0245C"/>
                </a:solidFill>
                <a:latin typeface="Segoe UI"/>
              </a:rPr>
              <a:t>06.  Dual Enterprise Serving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5138928"/>
            <a:ext cx="49377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0" i="0">
                <a:solidFill>
                  <a:srgbClr val="1C1C1C"/>
                </a:solidFill>
                <a:latin typeface="Segoe UI"/>
              </a:rPr>
              <a:t>Deliver both an enterprise Power BI model (50+ DAX measures) and an interactive Apache ECharts Web Dashboard.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 &amp; IoT Pipelines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Literature Review &amp; Synthesis of Core Papers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1">
                <a:solidFill>
                  <a:srgbClr val="555555"/>
                </a:solidFill>
                <a:latin typeface="Segoe UI"/>
              </a:rPr>
              <a:t>Synthesis of six foundational research papers — two papers reviewed per team member: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11173968" cy="713232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72768"/>
            <a:ext cx="64008" cy="713232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82496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0245C"/>
                </a:solidFill>
                <a:latin typeface="Segoe UI"/>
              </a:rPr>
              <a:t>Paper 1: Portugal Energy Distribution (2024)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1">
                <a:solidFill>
                  <a:srgbClr val="3366CC"/>
                </a:solidFill>
                <a:latin typeface="Segoe UI"/>
              </a:rPr>
              <a:t>Reviewed by: Vedant Nimkar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682496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1C1C1C"/>
                </a:solidFill>
                <a:latin typeface="Segoe UI"/>
              </a:rPr>
              <a:t>DSRM methodology for national hourly &amp; geographic distribution in Power BI.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682496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1E7A4F"/>
                </a:solidFill>
                <a:latin typeface="Segoe UI"/>
              </a:rPr>
              <a:t>System Takeaway: Adopted star schema, role-specific views, and DSRM lifecycle.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59152"/>
            <a:ext cx="11173968" cy="713232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359152"/>
            <a:ext cx="64008" cy="713232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46888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0245C"/>
                </a:solidFill>
                <a:latin typeface="Segoe UI"/>
              </a:rPr>
              <a:t>Paper 2: Awate et al. (IJARSCT 2023)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1">
                <a:solidFill>
                  <a:srgbClr val="3366CC"/>
                </a:solidFill>
                <a:latin typeface="Segoe UI"/>
              </a:rPr>
              <a:t>Reviewed by: Vedant Nimkar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4688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1C1C1C"/>
                </a:solidFill>
                <a:latin typeface="Segoe UI"/>
              </a:rPr>
              <a:t>Analyzed 500 residential meters over 24 months with Prophet demand forecasting.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468880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1E7A4F"/>
                </a:solidFill>
                <a:latin typeface="Segoe UI"/>
              </a:rPr>
              <a:t>System Takeaway: Transitioned to hourly telemetry; integrated Prophet seasonal models.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145536"/>
            <a:ext cx="11173968" cy="713232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145536"/>
            <a:ext cx="64008" cy="713232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55264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0245C"/>
                </a:solidFill>
                <a:latin typeface="Segoe UI"/>
              </a:rPr>
              <a:t>Paper 3: Energy Calculation in Power BI (2023)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1">
                <a:solidFill>
                  <a:srgbClr val="3366CC"/>
                </a:solidFill>
                <a:latin typeface="Segoe UI"/>
              </a:rPr>
              <a:t>Reviewed by: Jitesh Bobde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3255264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1C1C1C"/>
                </a:solidFill>
                <a:latin typeface="Segoe UI"/>
              </a:rPr>
              <a:t>End-to-end dashboard sequence: collection, modeling, visuals, filters.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3255264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1E7A4F"/>
                </a:solidFill>
                <a:latin typeface="Segoe UI"/>
              </a:rPr>
              <a:t>System Takeaway: Constructed 50+ DAX library, time intelligence, and Power Query M scripts.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931920"/>
            <a:ext cx="11173968" cy="713232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931920"/>
            <a:ext cx="64008" cy="713232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041648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0245C"/>
                </a:solidFill>
                <a:latin typeface="Segoe UI"/>
              </a:rPr>
              <a:t>Paper 4: Soliman &amp; Fetais (IEEE GCCCE 2017)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1">
                <a:solidFill>
                  <a:srgbClr val="3366CC"/>
                </a:solidFill>
                <a:latin typeface="Segoe UI"/>
              </a:rPr>
              <a:t>Reviewed by: Jitesh Bobde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4041648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1C1C1C"/>
                </a:solidFill>
                <a:latin typeface="Segoe UI"/>
              </a:rPr>
              <a:t>Big data visualization of Qatar smart meter network; standardization and speed.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041648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1E7A4F"/>
                </a:solidFill>
                <a:latin typeface="Segoe UI"/>
              </a:rPr>
              <a:t>System Takeaway: Implemented ETL quality gates, boundary checks, and null treatment.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18304"/>
            <a:ext cx="11173968" cy="713232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4718304"/>
            <a:ext cx="64008" cy="713232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28032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0245C"/>
                </a:solidFill>
                <a:latin typeface="Segoe UI"/>
              </a:rPr>
              <a:t>Paper 5: IoT Smart Energy System (IJIRT 2026)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1">
                <a:solidFill>
                  <a:srgbClr val="3366CC"/>
                </a:solidFill>
                <a:latin typeface="Segoe UI"/>
              </a:rPr>
              <a:t>Reviewed by: Ayush Sharma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4828032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1C1C1C"/>
                </a:solidFill>
                <a:latin typeface="Segoe UI"/>
              </a:rPr>
              <a:t>ESP32 voltage/current sensing, MQTT broker, cloud ingestion, fault prediction.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4828032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1E7A4F"/>
                </a:solidFill>
                <a:latin typeface="Segoe UI"/>
              </a:rPr>
              <a:t>System Takeaway: Engineered streaming IoT telemetry simulator emitting 3-phase readings.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504688"/>
            <a:ext cx="11173968" cy="713232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504688"/>
            <a:ext cx="64008" cy="713232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614416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0245C"/>
                </a:solidFill>
                <a:latin typeface="Segoe UI"/>
              </a:rPr>
              <a:t>Paper 6: Interactive ML Dashboard (ESANN 2024)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i="1">
                <a:solidFill>
                  <a:srgbClr val="3366CC"/>
                </a:solidFill>
                <a:latin typeface="Segoe UI"/>
              </a:rPr>
              <a:t>Reviewed by: Ayush Sharma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5614416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1C1C1C"/>
                </a:solidFill>
                <a:latin typeface="Segoe UI"/>
              </a:rPr>
              <a:t>2D manifold mapping of daily load profiles using t-SNE, sparklines, data cubes.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5614416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1E7A4F"/>
                </a:solidFill>
                <a:latin typeface="Segoe UI"/>
              </a:rPr>
              <a:t>System Takeaway: Normalized 24-hr load vectors with t-SNE projection and K-Means clustering.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 &amp; IoT Pipelines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End-to-End System &amp; Pipeline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1">
                <a:solidFill>
                  <a:srgbClr val="555555"/>
                </a:solidFill>
                <a:latin typeface="Segoe UI"/>
              </a:rPr>
              <a:t>A decoupled 5-tier production pipeline orchestrating ingestion through dual analytical delivery: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1173968" cy="84124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2377440" cy="84124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7452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1. INGESTION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78308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 i="0">
                <a:solidFill>
                  <a:srgbClr val="1C1C1C"/>
                </a:solidFill>
                <a:latin typeface="Segoe UI"/>
              </a:rPr>
              <a:t>ESP32 edge-sensor telemetry (MQTT) + batch meter CSVs. Schema validation and boundary enforcement.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32888"/>
            <a:ext cx="11173968" cy="84124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32888"/>
            <a:ext cx="2377440" cy="841248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072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2. ETL &amp;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715768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 i="0">
                <a:solidFill>
                  <a:srgbClr val="1C1C1C"/>
                </a:solidFill>
                <a:latin typeface="Segoe UI"/>
              </a:rPr>
              <a:t>Unit standardization (kWh, kVA, kW peak), Cooling Degree Hours (CDH), missing value imputation, foreign-key audit.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65576"/>
            <a:ext cx="11173968" cy="84124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465576"/>
            <a:ext cx="2377440" cy="84124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3989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3. STAR SCHEMA WAREHOUSE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648456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 i="0">
                <a:solidFill>
                  <a:srgbClr val="1C1C1C"/>
                </a:solidFill>
                <a:latin typeface="Segoe UI"/>
              </a:rPr>
              <a:t>11 Fact and Dimension tables (52,560 hourly rows for FY 2025 across 6 facilities). Optimized VertiPaq compression.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98264"/>
            <a:ext cx="11173968" cy="84124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398264"/>
            <a:ext cx="2377440" cy="841248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672584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4. ML ANALYTICS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581144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 i="0">
                <a:solidFill>
                  <a:srgbClr val="1C1C1C"/>
                </a:solidFill>
                <a:latin typeface="Segoe UI"/>
              </a:rPr>
              <a:t>Prophet/Ridge regression demand forecasting, Shewhart 3σ statistical anomaly engine, t-SNE 2D manifold clustering.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330952"/>
            <a:ext cx="11173968" cy="84124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330952"/>
            <a:ext cx="2377440" cy="841248"/>
          </a:xfrm>
          <a:prstGeom prst="rect">
            <a:avLst/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60527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5. DUAL SERVING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5513832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 i="0">
                <a:solidFill>
                  <a:srgbClr val="1C1C1C"/>
                </a:solidFill>
                <a:latin typeface="Segoe UI"/>
              </a:rPr>
              <a:t>Enterprise Power BI Desktop model (50+ DAX measures) + Interactive Apache ECharts Web Dashboard with live MQTT stream.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 &amp; IoT Pipelines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Star-Schema Dimensional Warehouse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61872"/>
            <a:ext cx="5486400" cy="489204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61872"/>
            <a:ext cx="5486400" cy="64008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10245C"/>
                </a:solidFill>
                <a:latin typeface="Segoe UI"/>
              </a:rPr>
              <a:t>WAREHOUSE TABLE INVENTORY &amp; CARDINALITY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>
                <a:solidFill>
                  <a:srgbClr val="3366CC"/>
                </a:solidFill>
                <a:latin typeface="Segoe UI"/>
              </a:rPr>
              <a:t>▪   </a:t>
            </a:r>
            <a:r>
              <a:rPr sz="1100" b="1">
                <a:solidFill>
                  <a:srgbClr val="10245C"/>
                </a:solidFill>
                <a:latin typeface="Segoe UI"/>
              </a:rPr>
              <a:t>Fact_EnergyConsumption (52,560 rows) - </a:t>
            </a:r>
            <a:r>
              <a:rPr sz="1100">
                <a:solidFill>
                  <a:srgbClr val="1C1C1C"/>
                </a:solidFill>
                <a:latin typeface="Segoe UI"/>
              </a:rPr>
              <a:t>Central grain: hourly active power, solar gen, grid import, cost, and anomaly flags.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>
                <a:solidFill>
                  <a:srgbClr val="3366CC"/>
                </a:solidFill>
                <a:latin typeface="Segoe UI"/>
              </a:rPr>
              <a:t>▪   </a:t>
            </a:r>
            <a:r>
              <a:rPr sz="1100" b="1">
                <a:solidFill>
                  <a:srgbClr val="10245C"/>
                </a:solidFill>
                <a:latin typeface="Segoe UI"/>
              </a:rPr>
              <a:t>Fact_ApplianceSubmeter (60,480 rows) - </a:t>
            </a:r>
            <a:r>
              <a:rPr sz="1100">
                <a:solidFill>
                  <a:srgbClr val="1C1C1C"/>
                </a:solidFill>
                <a:latin typeface="Segoe UI"/>
              </a:rPr>
              <a:t>End-use breakdown: HVAC, IT servers, lighting, industrial motors, and auxiliary.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>
                <a:solidFill>
                  <a:srgbClr val="3366CC"/>
                </a:solidFill>
                <a:latin typeface="Segoe UI"/>
              </a:rPr>
              <a:t>▪   </a:t>
            </a:r>
            <a:r>
              <a:rPr sz="1100" b="1">
                <a:solidFill>
                  <a:srgbClr val="10245C"/>
                </a:solidFill>
                <a:latin typeface="Segoe UI"/>
              </a:rPr>
              <a:t>Fact_DemandForecast (395 rows) - </a:t>
            </a:r>
            <a:r>
              <a:rPr sz="1100">
                <a:solidFill>
                  <a:srgbClr val="1C1C1C"/>
                </a:solidFill>
                <a:latin typeface="Segoe UI"/>
              </a:rPr>
              <a:t>Historical observed demand + 30-day forward ML projection with 95% confidence bounds.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>
                <a:solidFill>
                  <a:srgbClr val="3366CC"/>
                </a:solidFill>
                <a:latin typeface="Segoe UI"/>
              </a:rPr>
              <a:t>▪   </a:t>
            </a:r>
            <a:r>
              <a:rPr sz="1100" b="1">
                <a:solidFill>
                  <a:srgbClr val="10245C"/>
                </a:solidFill>
                <a:latin typeface="Segoe UI"/>
              </a:rPr>
              <a:t>Fact_Anomalies_Detailed (196 rows) - </a:t>
            </a:r>
            <a:r>
              <a:rPr sz="1100">
                <a:solidFill>
                  <a:srgbClr val="1C1C1C"/>
                </a:solidFill>
                <a:latin typeface="Segoe UI"/>
              </a:rPr>
              <a:t>Rolling baseline breaches with excess energy (kWh), wasted cost (INR), and root cause.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>
                <a:solidFill>
                  <a:srgbClr val="3366CC"/>
                </a:solidFill>
                <a:latin typeface="Segoe UI"/>
              </a:rPr>
              <a:t>▪   </a:t>
            </a:r>
            <a:r>
              <a:rPr sz="1100" b="1">
                <a:solidFill>
                  <a:srgbClr val="10245C"/>
                </a:solidFill>
                <a:latin typeface="Segoe UI"/>
              </a:rPr>
              <a:t>Fact_LoadClusters (2,190 rows) - </a:t>
            </a:r>
            <a:r>
              <a:rPr sz="1100">
                <a:solidFill>
                  <a:srgbClr val="1C1C1C"/>
                </a:solidFill>
                <a:latin typeface="Segoe UI"/>
              </a:rPr>
              <a:t>24-hour normalized load vectors mapped to 2D t-SNE coordinates and cluster IDs.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261872"/>
            <a:ext cx="5477256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261872"/>
            <a:ext cx="5477256" cy="6400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3366CC"/>
                </a:solidFill>
                <a:latin typeface="Segoe UI"/>
              </a:rPr>
              <a:t>DIMENSIONAL ATTRIBUTES &amp; QUALITY GATES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74519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>
                <a:solidFill>
                  <a:srgbClr val="3366CC"/>
                </a:solidFill>
                <a:latin typeface="Segoe UI"/>
              </a:rPr>
              <a:t>▪   </a:t>
            </a:r>
            <a:r>
              <a:rPr sz="1100" b="1">
                <a:solidFill>
                  <a:srgbClr val="10245C"/>
                </a:solidFill>
                <a:latin typeface="Segoe UI"/>
              </a:rPr>
              <a:t>Dim_Facility (6 rows) - </a:t>
            </a:r>
            <a:r>
              <a:rPr sz="1100">
                <a:solidFill>
                  <a:srgbClr val="1C1C1C"/>
                </a:solidFill>
                <a:latin typeface="Segoe UI"/>
              </a:rPr>
              <a:t>Facility name, square footage, baseline kW, peak design kW, solar kWp, and Energy Star score.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>
                <a:solidFill>
                  <a:srgbClr val="3366CC"/>
                </a:solidFill>
                <a:latin typeface="Segoe UI"/>
              </a:rPr>
              <a:t>▪   </a:t>
            </a:r>
            <a:r>
              <a:rPr sz="1100" b="1">
                <a:solidFill>
                  <a:srgbClr val="10245C"/>
                </a:solidFill>
                <a:latin typeface="Segoe UI"/>
              </a:rPr>
              <a:t>Dim_Tariff (3 rows) - </a:t>
            </a:r>
            <a:r>
              <a:rPr sz="1100">
                <a:solidFill>
                  <a:srgbClr val="1C1C1C"/>
                </a:solidFill>
                <a:latin typeface="Segoe UI"/>
              </a:rPr>
              <a:t>Time-of-Use tariffs (HT-ToU, LT-ToU, Residential) with Peak, Shoulder, and Off-Peak rates.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>
                <a:solidFill>
                  <a:srgbClr val="3366CC"/>
                </a:solidFill>
                <a:latin typeface="Segoe UI"/>
              </a:rPr>
              <a:t>▪   </a:t>
            </a:r>
            <a:r>
              <a:rPr sz="1100" b="1">
                <a:solidFill>
                  <a:srgbClr val="10245C"/>
                </a:solidFill>
                <a:latin typeface="Segoe UI"/>
              </a:rPr>
              <a:t>Dim_Date &amp; Dim_Time (731 + 24 rows) - </a:t>
            </a:r>
            <a:r>
              <a:rPr sz="1100">
                <a:solidFill>
                  <a:srgbClr val="1C1C1C"/>
                </a:solidFill>
                <a:latin typeface="Segoe UI"/>
              </a:rPr>
              <a:t>Calendar hierarchies, day parts, weekend indicators, and peak tariff flags.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>
                <a:solidFill>
                  <a:srgbClr val="3366CC"/>
                </a:solidFill>
                <a:latin typeface="Segoe UI"/>
              </a:rPr>
              <a:t>▪   </a:t>
            </a:r>
            <a:r>
              <a:rPr sz="1100" b="1">
                <a:solidFill>
                  <a:srgbClr val="10245C"/>
                </a:solidFill>
                <a:latin typeface="Segoe UI"/>
              </a:rPr>
              <a:t>Dim_Weather (17,544 rows) - </a:t>
            </a:r>
            <a:r>
              <a:rPr sz="1100">
                <a:solidFill>
                  <a:srgbClr val="1C1C1C"/>
                </a:solidFill>
                <a:latin typeface="Segoe UI"/>
              </a:rPr>
              <a:t>Ambient temperature, relative humidity, solar irradiance, and Cooling Degree Hours (CDH).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>
                <a:solidFill>
                  <a:srgbClr val="3366CC"/>
                </a:solidFill>
                <a:latin typeface="Segoe UI"/>
              </a:rPr>
              <a:t>▪   </a:t>
            </a:r>
            <a:r>
              <a:rPr sz="1100" b="1">
                <a:solidFill>
                  <a:srgbClr val="10245C"/>
                </a:solidFill>
                <a:latin typeface="Segoe UI"/>
              </a:rPr>
              <a:t>Referential Integrity Gate - </a:t>
            </a:r>
            <a:r>
              <a:rPr sz="1100">
                <a:solidFill>
                  <a:srgbClr val="1C1C1C"/>
                </a:solidFill>
                <a:latin typeface="Segoe UI"/>
              </a:rPr>
              <a:t>100% verified foreign key consistency; zero orphaned records or unmapped tariffs.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 &amp; IoT Pipelines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24x7 Diurnal Load-Profile Heatmap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load_profile_heatmap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276" y="1188720"/>
            <a:ext cx="4833143" cy="2834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4078224"/>
            <a:ext cx="11173968" cy="27432"/>
          </a:xfrm>
          <a:prstGeom prst="rect">
            <a:avLst/>
          </a:prstGeom>
          <a:solidFill>
            <a:srgbClr val="C8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51376"/>
            <a:ext cx="11173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 i="1">
                <a:solidFill>
                  <a:srgbClr val="555555"/>
                </a:solidFill>
                <a:latin typeface="Segoe UI"/>
              </a:rPr>
              <a:t>Implemented Visualization: Hourly load intensity (kW) across day-of-week and hour-of-day for the complete campus micro-grid.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462272"/>
            <a:ext cx="3578352" cy="184708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462272"/>
            <a:ext cx="3578352" cy="54864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608576"/>
            <a:ext cx="3212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3366CC"/>
                </a:solidFill>
                <a:latin typeface="Segoe UI"/>
              </a:rPr>
              <a:t>OPERATIONAL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01184"/>
            <a:ext cx="3212592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19" b="0" i="0">
                <a:solidFill>
                  <a:srgbClr val="1C1C1C"/>
                </a:solidFill>
                <a:latin typeface="Segoe UI"/>
              </a:rPr>
              <a:t>Reveals consistent morning ramp at 08:30, high plateau during working hours (09:00 - 17:00), coincident peak (14:00 - 17:00), and sharp weekend drop.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7576" y="4462272"/>
            <a:ext cx="3578352" cy="184708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7576" y="4462272"/>
            <a:ext cx="3578352" cy="54864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0456" y="4608576"/>
            <a:ext cx="3212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0245C"/>
                </a:solidFill>
                <a:latin typeface="Segoe UI"/>
              </a:rPr>
              <a:t>POWER BI &amp; ECHARTS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0456" y="4901184"/>
            <a:ext cx="3212592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19" b="0" i="0">
                <a:solidFill>
                  <a:srgbClr val="1C1C1C"/>
                </a:solidFill>
                <a:latin typeface="Segoe UI"/>
              </a:rPr>
              <a:t>Rendered as an interactive matrix visual in Power BI with conditional color gradient and in ECharts with dynamic visualMap range filtering.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2232" y="4462272"/>
            <a:ext cx="3578352" cy="184708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2232" y="4462272"/>
            <a:ext cx="3578352" cy="54864"/>
          </a:xfrm>
          <a:prstGeom prst="rect">
            <a:avLst/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5112" y="4608576"/>
            <a:ext cx="3212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E7A4F"/>
                </a:solidFill>
                <a:latin typeface="Segoe UI"/>
              </a:rPr>
              <a:t>STRATEGIC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5112" y="4901184"/>
            <a:ext cx="3212592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19" b="0" i="0">
                <a:solidFill>
                  <a:srgbClr val="1C1C1C"/>
                </a:solidFill>
                <a:latin typeface="Segoe UI"/>
              </a:rPr>
              <a:t>Directs equipment pre-cooling and load staggering specifically at peak tariff hours rather than broad day-long curtailment.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63056"/>
            <a:ext cx="111739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1">
                <a:solidFill>
                  <a:srgbClr val="3366CC"/>
                </a:solidFill>
                <a:latin typeface="Segoe UI"/>
              </a:rPr>
              <a:t>Traces to Paper 2 (hourly granularity) and Paper 6 (visual analytics)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 &amp; IoT Pipelines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Prophet/Ridge Time-Series Demand Forecasting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prophet_demand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694" y="1188720"/>
            <a:ext cx="6128307" cy="2834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4078224"/>
            <a:ext cx="11173968" cy="27432"/>
          </a:xfrm>
          <a:prstGeom prst="rect">
            <a:avLst/>
          </a:prstGeom>
          <a:solidFill>
            <a:srgbClr val="C8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51376"/>
            <a:ext cx="11173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 i="1">
                <a:solidFill>
                  <a:srgbClr val="555555"/>
                </a:solidFill>
                <a:latin typeface="Segoe UI"/>
              </a:rPr>
              <a:t>Implemented Visualization: 30-day forward demand trajectory with expanding 95% prediction confidence interval.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462272"/>
            <a:ext cx="3578352" cy="184708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462272"/>
            <a:ext cx="3578352" cy="54864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608576"/>
            <a:ext cx="3212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3366CC"/>
                </a:solidFill>
                <a:latin typeface="Segoe UI"/>
              </a:rPr>
              <a:t>MODEL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01184"/>
            <a:ext cx="3212592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19" b="0" i="0">
                <a:solidFill>
                  <a:srgbClr val="1C1C1C"/>
                </a:solidFill>
                <a:latin typeface="Segoe UI"/>
              </a:rPr>
              <a:t>R² = 0.996, MAPE = 0.61%, MAE = 270.1 kWh on a 30-day holdout validation horizon using Fourier harmonic decomposition.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7576" y="4462272"/>
            <a:ext cx="3578352" cy="184708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7576" y="4462272"/>
            <a:ext cx="3578352" cy="54864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0456" y="4608576"/>
            <a:ext cx="3212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0245C"/>
                </a:solidFill>
                <a:latin typeface="Segoe UI"/>
              </a:rPr>
              <a:t>WEATHER COUPLING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0456" y="4901184"/>
            <a:ext cx="3212592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19" b="0" i="0">
                <a:solidFill>
                  <a:srgbClr val="1C1C1C"/>
                </a:solidFill>
                <a:latin typeface="Segoe UI"/>
              </a:rPr>
              <a:t>Explicitly incorporates Cooling Degree Hours (CDH) to model non-linear summer chiller surges as ambient temperature exceeds 24°C.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2232" y="4462272"/>
            <a:ext cx="3578352" cy="184708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2232" y="4462272"/>
            <a:ext cx="3578352" cy="54864"/>
          </a:xfrm>
          <a:prstGeom prst="rect">
            <a:avLst/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5112" y="4608576"/>
            <a:ext cx="3212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E7A4F"/>
                </a:solidFill>
                <a:latin typeface="Segoe UI"/>
              </a:rPr>
              <a:t>CAPACITY PLANNING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5112" y="4901184"/>
            <a:ext cx="3212592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19" b="0" i="0">
                <a:solidFill>
                  <a:srgbClr val="1C1C1C"/>
                </a:solidFill>
                <a:latin typeface="Segoe UI"/>
              </a:rPr>
              <a:t>Enables utility procurement and contract demand setting against an expected range rather than unreliable single-point estimates.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63056"/>
            <a:ext cx="111739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1">
                <a:solidFill>
                  <a:srgbClr val="3366CC"/>
                </a:solidFill>
                <a:latin typeface="Segoe UI"/>
              </a:rPr>
              <a:t>Traces to Paper 2 (Prophet forecasting) and Paper 5 (regression forecasting)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 &amp; IoT Pipelines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Shewhart 3-Sigma Automated Anomaly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anomaly_detection_control_li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443" y="1188720"/>
            <a:ext cx="6050809" cy="2834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4078224"/>
            <a:ext cx="11173968" cy="27432"/>
          </a:xfrm>
          <a:prstGeom prst="rect">
            <a:avLst/>
          </a:prstGeom>
          <a:solidFill>
            <a:srgbClr val="C8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51376"/>
            <a:ext cx="11173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 i="1">
                <a:solidFill>
                  <a:srgbClr val="555555"/>
                </a:solidFill>
                <a:latin typeface="Segoe UI"/>
              </a:rPr>
              <a:t>Implemented Visualization: Real-time telemetry evaluated against centered rolling Shewhart ±3σ statistical control limits.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462272"/>
            <a:ext cx="3578352" cy="184708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462272"/>
            <a:ext cx="3578352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608576"/>
            <a:ext cx="3212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C0392B"/>
                </a:solidFill>
                <a:latin typeface="Segoe UI"/>
              </a:rPr>
              <a:t>BREACH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01184"/>
            <a:ext cx="3212592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19" b="0" i="0">
                <a:solidFill>
                  <a:srgbClr val="1C1C1C"/>
                </a:solidFill>
                <a:latin typeface="Segoe UI"/>
              </a:rPr>
              <a:t>Identified 196 operational breaches. Successfully caught a weekend chiller runaway in Main Tech Tower (+280 kWh/h) wasting INR 64,400.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7576" y="4462272"/>
            <a:ext cx="3578352" cy="184708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7576" y="4462272"/>
            <a:ext cx="3578352" cy="54864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0456" y="4608576"/>
            <a:ext cx="3212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0245C"/>
                </a:solidFill>
                <a:latin typeface="Segoe UI"/>
              </a:rPr>
              <a:t>AUTOMATED TRIAGE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0456" y="4901184"/>
            <a:ext cx="3212592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19" b="0" i="0">
                <a:solidFill>
                  <a:srgbClr val="1C1C1C"/>
                </a:solidFill>
                <a:latin typeface="Segoe UI"/>
              </a:rPr>
              <a:t>Replaces passive end-of-month utility bill review with automated hourly alerts, classifying events by severity (Critical vs Warning).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2232" y="4462272"/>
            <a:ext cx="3578352" cy="184708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2232" y="4462272"/>
            <a:ext cx="3578352" cy="54864"/>
          </a:xfrm>
          <a:prstGeom prst="rect">
            <a:avLst/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5112" y="4608576"/>
            <a:ext cx="3212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E7A4F"/>
                </a:solidFill>
                <a:latin typeface="Segoe UI"/>
              </a:rPr>
              <a:t>ROOT CAUSE ISOLATION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5112" y="4901184"/>
            <a:ext cx="3212592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19" b="0" i="0">
                <a:solidFill>
                  <a:srgbClr val="1C1C1C"/>
                </a:solidFill>
                <a:latin typeface="Segoe UI"/>
              </a:rPr>
              <a:t>Distinguishes weather-induced surges from true faults (e.g., night baseload leaks, solar inverter midday dropouts).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63056"/>
            <a:ext cx="111739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1">
                <a:solidFill>
                  <a:srgbClr val="3366CC"/>
                </a:solidFill>
                <a:latin typeface="Segoe UI"/>
              </a:rPr>
              <a:t>Traces to Paper 4 (outlier handling) and Paper 5 (fault anticipation)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 &amp; IoT Pipelines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t-SNE 2D Manifold Load-Shape Clustering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tsne_load_shape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456" y="1188720"/>
            <a:ext cx="4276782" cy="2834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4078224"/>
            <a:ext cx="11173968" cy="27432"/>
          </a:xfrm>
          <a:prstGeom prst="rect">
            <a:avLst/>
          </a:prstGeom>
          <a:solidFill>
            <a:srgbClr val="C8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51376"/>
            <a:ext cx="11173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 i="1">
                <a:solidFill>
                  <a:srgbClr val="555555"/>
                </a:solidFill>
                <a:latin typeface="Segoe UI"/>
              </a:rPr>
              <a:t>Implemented Visualization: Non-linear projection of 24-dimensional diurnal load vectors into four distinct operational archetypes.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462272"/>
            <a:ext cx="3578352" cy="184708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462272"/>
            <a:ext cx="3578352" cy="54864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608576"/>
            <a:ext cx="3212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3366CC"/>
                </a:solidFill>
                <a:latin typeface="Segoe UI"/>
              </a:rPr>
              <a:t>FOUR ARCHETYPES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01184"/>
            <a:ext cx="3212592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19" b="0" i="0">
                <a:solidFill>
                  <a:srgbClr val="1C1C1C"/>
                </a:solidFill>
                <a:latin typeface="Segoe UI"/>
              </a:rPr>
              <a:t>Cluster 1: Commercial Day-Shift Heavy (Blue); Cluster 2: Continuous Baseload (Green); Cluster 3: Residential Hostels (Amber); Cluster 4: Weekend Idle (Purple).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7576" y="4462272"/>
            <a:ext cx="3578352" cy="184708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7576" y="4462272"/>
            <a:ext cx="3578352" cy="54864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0456" y="4608576"/>
            <a:ext cx="3212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0245C"/>
                </a:solidFill>
                <a:latin typeface="Segoe UI"/>
              </a:rPr>
              <a:t>NORMALIZED SHAPE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0456" y="4901184"/>
            <a:ext cx="3212592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19" b="0" i="0">
                <a:solidFill>
                  <a:srgbClr val="1C1C1C"/>
                </a:solidFill>
                <a:latin typeface="Segoe UI"/>
              </a:rPr>
              <a:t>Vectors are min-max normalized by daily peak load to cluster buildings by behavioral schedule rather than absolute size.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2232" y="4462272"/>
            <a:ext cx="3578352" cy="184708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2232" y="4462272"/>
            <a:ext cx="3578352" cy="54864"/>
          </a:xfrm>
          <a:prstGeom prst="rect">
            <a:avLst/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5112" y="4608576"/>
            <a:ext cx="3212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E7A4F"/>
                </a:solidFill>
                <a:latin typeface="Segoe UI"/>
              </a:rPr>
              <a:t>TARGETED POLICIES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5112" y="4901184"/>
            <a:ext cx="3212592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19" b="0" i="0">
                <a:solidFill>
                  <a:srgbClr val="1C1C1C"/>
                </a:solidFill>
                <a:latin typeface="Segoe UI"/>
              </a:rPr>
              <a:t>Allows demand-management initiatives to be customized per cluster (e.g. hostel evening shifting vs tech tower pre-cooling).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63056"/>
            <a:ext cx="111739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1">
                <a:solidFill>
                  <a:srgbClr val="3366CC"/>
                </a:solidFill>
                <a:latin typeface="Segoe UI"/>
              </a:rPr>
              <a:t>Traces to Paper 6 (t-SNE load profiling and morphing projections)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 &amp; IoT Pipelines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Facility Benchmarking &amp; Top-N Sparklines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topn_facility_spark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923" y="1188720"/>
            <a:ext cx="6905849" cy="2834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4078224"/>
            <a:ext cx="11173968" cy="27432"/>
          </a:xfrm>
          <a:prstGeom prst="rect">
            <a:avLst/>
          </a:prstGeom>
          <a:solidFill>
            <a:srgbClr val="C8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51376"/>
            <a:ext cx="11173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 i="1">
                <a:solidFill>
                  <a:srgbClr val="555555"/>
                </a:solidFill>
                <a:latin typeface="Segoe UI"/>
              </a:rPr>
              <a:t>Implemented Visualization: Annual consumption ranking with inline monthly sparklines, category tags, and Energy Star ratings.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462272"/>
            <a:ext cx="3578352" cy="184708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462272"/>
            <a:ext cx="3578352" cy="54864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608576"/>
            <a:ext cx="3212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3366CC"/>
                </a:solidFill>
                <a:latin typeface="Segoe UI"/>
              </a:rPr>
              <a:t>PARETO CONCENTRATION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01184"/>
            <a:ext cx="3212592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19" b="0" i="0">
                <a:solidFill>
                  <a:srgbClr val="1C1C1C"/>
                </a:solidFill>
                <a:latin typeface="Segoe UI"/>
              </a:rPr>
              <a:t>Main Tech Tower (5.34 GWh) and Data Center (4.88 GWh) account for over 52.8% of total campus energy expenditure.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7576" y="4462272"/>
            <a:ext cx="3578352" cy="184708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7576" y="4462272"/>
            <a:ext cx="3578352" cy="54864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0456" y="4608576"/>
            <a:ext cx="3212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0245C"/>
                </a:solidFill>
                <a:latin typeface="Segoe UI"/>
              </a:rPr>
              <a:t>MOMENTUM &amp; TREND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0456" y="4901184"/>
            <a:ext cx="3212592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19" b="0" i="0">
                <a:solidFill>
                  <a:srgbClr val="1C1C1C"/>
                </a:solidFill>
                <a:latin typeface="Segoe UI"/>
              </a:rPr>
              <a:t>Inline sparklines allow facility managers to instantly separate entities with accelerating consumption from those improving.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2232" y="4462272"/>
            <a:ext cx="3578352" cy="184708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2232" y="4462272"/>
            <a:ext cx="3578352" cy="54864"/>
          </a:xfrm>
          <a:prstGeom prst="rect">
            <a:avLst/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5112" y="4608576"/>
            <a:ext cx="3212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E7A4F"/>
                </a:solidFill>
                <a:latin typeface="Segoe UI"/>
              </a:rPr>
              <a:t>PORTFOLIO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5112" y="4901184"/>
            <a:ext cx="3212592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19" b="0" i="0">
                <a:solidFill>
                  <a:srgbClr val="1C1C1C"/>
                </a:solidFill>
                <a:latin typeface="Segoe UI"/>
              </a:rPr>
              <a:t>Integrates Energy Star scores (76 to 91) and floor area benchmarking (kWh/sq.ft) to prioritize retrofit capital expenditure.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63056"/>
            <a:ext cx="111739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1">
                <a:solidFill>
                  <a:srgbClr val="3366CC"/>
                </a:solidFill>
                <a:latin typeface="Segoe UI"/>
              </a:rPr>
              <a:t>Traces to Paper 2 (consumer ranking) and Paper 6 (sparklines)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 &amp; IoT Pipelines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Appliance Submetering &amp; End-Use Breakdown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_appliance_submeter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992" y="1188720"/>
            <a:ext cx="3681710" cy="2834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4078224"/>
            <a:ext cx="11173968" cy="27432"/>
          </a:xfrm>
          <a:prstGeom prst="rect">
            <a:avLst/>
          </a:prstGeom>
          <a:solidFill>
            <a:srgbClr val="C8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51376"/>
            <a:ext cx="11173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 i="1">
                <a:solidFill>
                  <a:srgbClr val="555555"/>
                </a:solidFill>
                <a:latin typeface="Segoe UI"/>
              </a:rPr>
              <a:t>Implemented Visualization: Campus-wide disaggregation across major electrical submetering categories.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462272"/>
            <a:ext cx="3578352" cy="184708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462272"/>
            <a:ext cx="3578352" cy="54864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608576"/>
            <a:ext cx="3212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3366CC"/>
                </a:solidFill>
                <a:latin typeface="Segoe UI"/>
              </a:rPr>
              <a:t>CHILLER DOMINANCE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01184"/>
            <a:ext cx="3212592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19" b="0" i="0">
                <a:solidFill>
                  <a:srgbClr val="1C1C1C"/>
                </a:solidFill>
                <a:latin typeface="Segoe UI"/>
              </a:rPr>
              <a:t>HVAC &amp; Chillers constitute 42.0% (8.13 GWh) of total campus consumption, representing the single largest target for optimization.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7576" y="4462272"/>
            <a:ext cx="3578352" cy="184708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7576" y="4462272"/>
            <a:ext cx="3578352" cy="54864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0456" y="4608576"/>
            <a:ext cx="3212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0245C"/>
                </a:solidFill>
                <a:latin typeface="Segoe UI"/>
              </a:rPr>
              <a:t>INFLEXIBLE BASELOAD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0456" y="4901184"/>
            <a:ext cx="3212592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19" b="0" i="0">
                <a:solidFill>
                  <a:srgbClr val="1C1C1C"/>
                </a:solidFill>
                <a:latin typeface="Segoe UI"/>
              </a:rPr>
              <a:t>Server &amp; IT Infrastructure contributes 22.0% (4.26 GWh), operating at an uninterrupted continuous flat load curve.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2232" y="4462272"/>
            <a:ext cx="3578352" cy="184708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2232" y="4462272"/>
            <a:ext cx="3578352" cy="54864"/>
          </a:xfrm>
          <a:prstGeom prst="rect">
            <a:avLst/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5112" y="4608576"/>
            <a:ext cx="3212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E7A4F"/>
                </a:solidFill>
                <a:latin typeface="Segoe UI"/>
              </a:rPr>
              <a:t>CONTROLLABLE LOADS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5112" y="4901184"/>
            <a:ext cx="3212592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19" b="0" i="0">
                <a:solidFill>
                  <a:srgbClr val="1C1C1C"/>
                </a:solidFill>
                <a:latin typeface="Segoe UI"/>
              </a:rPr>
              <a:t>Lighting (18.0%) and Machinery (12.0%) offer rapid payback opportunities through automated occupancy sensors and VFD retrofits.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63056"/>
            <a:ext cx="111739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1">
                <a:solidFill>
                  <a:srgbClr val="3366CC"/>
                </a:solidFill>
                <a:latin typeface="Segoe UI"/>
              </a:rPr>
              <a:t>Traces to Paper 3 (appliance calculations) and Paper 1 (submetering)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 &amp; IoT Pipelines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Renewable Solar Flow &amp; Grid Balance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solar_vs_gri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964" y="1188720"/>
            <a:ext cx="5279766" cy="2834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4078224"/>
            <a:ext cx="11173968" cy="27432"/>
          </a:xfrm>
          <a:prstGeom prst="rect">
            <a:avLst/>
          </a:prstGeom>
          <a:solidFill>
            <a:srgbClr val="C8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51376"/>
            <a:ext cx="11173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 i="1">
                <a:solidFill>
                  <a:srgbClr val="555555"/>
                </a:solidFill>
                <a:latin typeface="Segoe UI"/>
              </a:rPr>
              <a:t>Implemented Visualization: Average diurnal power flow comparing total demand, solar generation, and net grid import.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462272"/>
            <a:ext cx="3578352" cy="184708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462272"/>
            <a:ext cx="3578352" cy="54864"/>
          </a:xfrm>
          <a:prstGeom prst="rect">
            <a:avLst/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608576"/>
            <a:ext cx="3212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E7A4F"/>
                </a:solidFill>
                <a:latin typeface="Segoe UI"/>
              </a:rPr>
              <a:t>SOLAR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01184"/>
            <a:ext cx="3212592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19" b="0" i="0">
                <a:solidFill>
                  <a:srgbClr val="1C1C1C"/>
                </a:solidFill>
                <a:latin typeface="Segoe UI"/>
              </a:rPr>
              <a:t>Total annual solar generation of 1.14 GWh across 590 kWp installed rooftop capacity (5.9% total campus penetration).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7576" y="4462272"/>
            <a:ext cx="3578352" cy="184708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7576" y="4462272"/>
            <a:ext cx="3578352" cy="54864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0456" y="4608576"/>
            <a:ext cx="3212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3366CC"/>
                </a:solidFill>
                <a:latin typeface="Segoe UI"/>
              </a:rPr>
              <a:t>PEAK OFFSET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0456" y="4901184"/>
            <a:ext cx="3212592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19" b="0" i="0">
                <a:solidFill>
                  <a:srgbClr val="1C1C1C"/>
                </a:solidFill>
                <a:latin typeface="Segoe UI"/>
              </a:rPr>
              <a:t>Solar peaks between 11:00 and 14:00, perfectly coinciding with rising daytime cooling demand and shaving contract grid draw.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2232" y="4462272"/>
            <a:ext cx="3578352" cy="184708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2232" y="4462272"/>
            <a:ext cx="3578352" cy="54864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5112" y="4608576"/>
            <a:ext cx="32125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0245C"/>
                </a:solidFill>
                <a:latin typeface="Segoe UI"/>
              </a:rPr>
              <a:t>CARBON ABATEMENT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5112" y="4901184"/>
            <a:ext cx="3212592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19" b="0" i="0">
                <a:solidFill>
                  <a:srgbClr val="1C1C1C"/>
                </a:solidFill>
                <a:latin typeface="Segoe UI"/>
              </a:rPr>
              <a:t>Directly offsets 936.8 metric tons of CO2e annually (CEA grid emission factor of 0.82 kg/kWh), equivalent to ~42,500 trees.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63056"/>
            <a:ext cx="111739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1">
                <a:solidFill>
                  <a:srgbClr val="3366CC"/>
                </a:solidFill>
                <a:latin typeface="Segoe UI"/>
              </a:rPr>
              <a:t>Integrates Papers 1, 3, 4 and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 &amp; IoT Pipelines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Interactive Apache ECharts &amp; Web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61872"/>
            <a:ext cx="5486400" cy="489204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61872"/>
            <a:ext cx="5486400" cy="6400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3366CC"/>
                </a:solidFill>
                <a:latin typeface="Segoe UI"/>
              </a:rPr>
              <a:t>APACHE ECHARTS INTERACTIVE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>
                <a:solidFill>
                  <a:srgbClr val="3366CC"/>
                </a:solidFill>
                <a:latin typeface="Segoe UI"/>
              </a:rPr>
              <a:t>▪   </a:t>
            </a:r>
            <a:r>
              <a:rPr sz="1100" b="1">
                <a:solidFill>
                  <a:srgbClr val="10245C"/>
                </a:solidFill>
                <a:latin typeface="Segoe UI"/>
              </a:rPr>
              <a:t>Rich Visual Aesthetics - </a:t>
            </a:r>
            <a:r>
              <a:rPr sz="1100">
                <a:solidFill>
                  <a:srgbClr val="1C1C1C"/>
                </a:solidFill>
                <a:latin typeface="Segoe UI"/>
              </a:rPr>
              <a:t>Engineered with Apache ECharts 5.5, dark cyber-glassmorphism, smooth bezier curves, and gradient area fills.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>
                <a:solidFill>
                  <a:srgbClr val="3366CC"/>
                </a:solidFill>
                <a:latin typeface="Segoe UI"/>
              </a:rPr>
              <a:t>▪   </a:t>
            </a:r>
            <a:r>
              <a:rPr sz="1100" b="1">
                <a:solidFill>
                  <a:srgbClr val="10245C"/>
                </a:solidFill>
                <a:latin typeface="Segoe UI"/>
              </a:rPr>
              <a:t>24x7 Heatmap with visualMap - </a:t>
            </a:r>
            <a:r>
              <a:rPr sz="1100">
                <a:solidFill>
                  <a:srgbClr val="1C1C1C"/>
                </a:solidFill>
                <a:latin typeface="Segoe UI"/>
              </a:rPr>
              <a:t>Interactive continuous slider allows real-time dynamic filtering of load intensity cells.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>
                <a:solidFill>
                  <a:srgbClr val="3366CC"/>
                </a:solidFill>
                <a:latin typeface="Segoe UI"/>
              </a:rPr>
              <a:t>▪   </a:t>
            </a:r>
            <a:r>
              <a:rPr sz="1100" b="1">
                <a:solidFill>
                  <a:srgbClr val="10245C"/>
                </a:solidFill>
                <a:latin typeface="Segoe UI"/>
              </a:rPr>
              <a:t>Reactive Global Slicers - </a:t>
            </a:r>
            <a:r>
              <a:rPr sz="1100">
                <a:solidFill>
                  <a:srgbClr val="1C1C1C"/>
                </a:solidFill>
                <a:latin typeface="Segoe UI"/>
              </a:rPr>
              <a:t>Dropdown facility selector instantly updates all KPI cards, diurnal curves, and highlights t-SNE scatter points.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>
                <a:solidFill>
                  <a:srgbClr val="3366CC"/>
                </a:solidFill>
                <a:latin typeface="Segoe UI"/>
              </a:rPr>
              <a:t>▪   </a:t>
            </a:r>
            <a:r>
              <a:rPr sz="1100" b="1">
                <a:solidFill>
                  <a:srgbClr val="10245C"/>
                </a:solidFill>
                <a:latin typeface="Segoe UI"/>
              </a:rPr>
              <a:t>Submeter Nightingale Donut - </a:t>
            </a:r>
            <a:r>
              <a:rPr sz="1100">
                <a:solidFill>
                  <a:srgbClr val="1C1C1C"/>
                </a:solidFill>
                <a:latin typeface="Segoe UI"/>
              </a:rPr>
              <a:t>Rounded-corner doughnut layout with hover expansion and center metric summary.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>
                <a:solidFill>
                  <a:srgbClr val="3366CC"/>
                </a:solidFill>
                <a:latin typeface="Segoe UI"/>
              </a:rPr>
              <a:t>▪   </a:t>
            </a:r>
            <a:r>
              <a:rPr sz="1100" b="1">
                <a:solidFill>
                  <a:srgbClr val="10245C"/>
                </a:solidFill>
                <a:latin typeface="Segoe UI"/>
              </a:rPr>
              <a:t>Zero Cloud Dependencies - </a:t>
            </a:r>
            <a:r>
              <a:rPr sz="1100">
                <a:solidFill>
                  <a:srgbClr val="1C1C1C"/>
                </a:solidFill>
                <a:latin typeface="Segoe UI"/>
              </a:rPr>
              <a:t>Bundled standalone echarts.min.js and dashboard_data.js for 100% offline local execution.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261872"/>
            <a:ext cx="5477256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261872"/>
            <a:ext cx="5477256" cy="64008"/>
          </a:xfrm>
          <a:prstGeom prst="rect">
            <a:avLst/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1E7A4F"/>
                </a:solidFill>
                <a:latin typeface="Segoe UI"/>
              </a:rPr>
              <a:t>LIVE IOT SENSOR STREAMING SIMULATION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74519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>
                <a:solidFill>
                  <a:srgbClr val="3366CC"/>
                </a:solidFill>
                <a:latin typeface="Segoe UI"/>
              </a:rPr>
              <a:t>▪   </a:t>
            </a:r>
            <a:r>
              <a:rPr sz="1100" b="1">
                <a:solidFill>
                  <a:srgbClr val="10245C"/>
                </a:solidFill>
                <a:latin typeface="Segoe UI"/>
              </a:rPr>
              <a:t>Live ESP32 MQTT Emulation - </a:t>
            </a:r>
            <a:r>
              <a:rPr sz="1100">
                <a:solidFill>
                  <a:srgbClr val="1C1C1C"/>
                </a:solidFill>
                <a:latin typeface="Segoe UI"/>
              </a:rPr>
              <a:t>Simulates incoming sensor packets every 1.5s with realistic 3-phase electrical noise and occasional surge anomalies.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>
                <a:solidFill>
                  <a:srgbClr val="3366CC"/>
                </a:solidFill>
                <a:latin typeface="Segoe UI"/>
              </a:rPr>
              <a:t>▪   </a:t>
            </a:r>
            <a:r>
              <a:rPr sz="1100" b="1">
                <a:solidFill>
                  <a:srgbClr val="10245C"/>
                </a:solidFill>
                <a:latin typeface="Segoe UI"/>
              </a:rPr>
              <a:t>Real-Time ECharts Gauge - </a:t>
            </a:r>
            <a:r>
              <a:rPr sz="1100">
                <a:solidFill>
                  <a:srgbClr val="1C1C1C"/>
                </a:solidFill>
                <a:latin typeface="Segoe UI"/>
              </a:rPr>
              <a:t>Animated power gauge meter dynamically tracking instantaneous active demand against operational thresholds.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>
                <a:solidFill>
                  <a:srgbClr val="3366CC"/>
                </a:solidFill>
                <a:latin typeface="Segoe UI"/>
              </a:rPr>
              <a:t>▪   </a:t>
            </a:r>
            <a:r>
              <a:rPr sz="1100" b="1">
                <a:solidFill>
                  <a:srgbClr val="10245C"/>
                </a:solidFill>
                <a:latin typeface="Segoe UI"/>
              </a:rPr>
              <a:t>Rolling Oscilloscope Chart - </a:t>
            </a:r>
            <a:r>
              <a:rPr sz="1100">
                <a:solidFill>
                  <a:srgbClr val="1C1C1C"/>
                </a:solidFill>
                <a:latin typeface="Segoe UI"/>
              </a:rPr>
              <a:t>Live 30-point rolling waveform displaying real-time power fluctuations and voltage stability.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>
                <a:solidFill>
                  <a:srgbClr val="3366CC"/>
                </a:solidFill>
                <a:latin typeface="Segoe UI"/>
              </a:rPr>
              <a:t>▪   </a:t>
            </a:r>
            <a:r>
              <a:rPr sz="1100" b="1">
                <a:solidFill>
                  <a:srgbClr val="10245C"/>
                </a:solidFill>
                <a:latin typeface="Segoe UI"/>
              </a:rPr>
              <a:t>Live Terminal Ingestion Log - </a:t>
            </a:r>
            <a:r>
              <a:rPr sz="1100">
                <a:solidFill>
                  <a:srgbClr val="1C1C1C"/>
                </a:solidFill>
                <a:latin typeface="Segoe UI"/>
              </a:rPr>
              <a:t>Timestamped MQTT JSON messages logged live with packet counter, latency monitor, and quality flag.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>
                <a:solidFill>
                  <a:srgbClr val="3366CC"/>
                </a:solidFill>
                <a:latin typeface="Segoe UI"/>
              </a:rPr>
              <a:t>▪   </a:t>
            </a:r>
            <a:r>
              <a:rPr sz="1100" b="1">
                <a:solidFill>
                  <a:srgbClr val="10245C"/>
                </a:solidFill>
                <a:latin typeface="Segoe UI"/>
              </a:rPr>
              <a:t>Anomaly Inspector Modal - </a:t>
            </a:r>
            <a:r>
              <a:rPr sz="1100">
                <a:solidFill>
                  <a:srgbClr val="1C1C1C"/>
                </a:solidFill>
                <a:latin typeface="Segoe UI"/>
              </a:rPr>
              <a:t>Tabular event log displaying excess kW, root cause, and wasted financial cost for every detected breach.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 &amp; IoT Pipelines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Decision Support &amp; Financial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77256" cy="224028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477256" cy="6400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0245C"/>
                </a:solidFill>
                <a:latin typeface="Segoe UI"/>
              </a:rPr>
              <a:t>Peak Shaving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1C1C1C"/>
                </a:solidFill>
                <a:latin typeface="Segoe UI"/>
              </a:rPr>
              <a:t>Shifting HVAC load via 11:00-13:00 pre-cooling reduces contract demand by 15%, saving an estimated INR 18.5 Lakhs annually in tariff demand charges.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5477256" cy="224028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794760"/>
            <a:ext cx="5477256" cy="64008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9592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0245C"/>
                </a:solidFill>
                <a:latin typeface="Segoe UI"/>
              </a:rPr>
              <a:t>Weekend Equipment Shutdown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3484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1C1C1C"/>
                </a:solidFill>
                <a:latin typeface="Segoe UI"/>
              </a:rPr>
              <a:t>Automated Shewhart 3σ alerts prevent unmonitored chiller runaways, eliminating ~INR 2.84 Lakhs in avoidable weekend waste.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371600"/>
            <a:ext cx="5477256" cy="224028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1371600"/>
            <a:ext cx="5477256" cy="64008"/>
          </a:xfrm>
          <a:prstGeom prst="rect">
            <a:avLst/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5727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0245C"/>
                </a:solidFill>
                <a:latin typeface="Segoe UI"/>
              </a:rPr>
              <a:t>Targeted Solar Expansion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01168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1C1C1C"/>
                </a:solidFill>
                <a:latin typeface="Segoe UI"/>
              </a:rPr>
              <a:t>Analysis pinpoints Computing Wing C (4.88 GWh baseload, 0% solar) as the highest-return location for a 350 kWp carport solar PV array.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3794760"/>
            <a:ext cx="5477256" cy="224028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3794760"/>
            <a:ext cx="5477256" cy="6400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99592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0245C"/>
                </a:solidFill>
                <a:latin typeface="Segoe UI"/>
              </a:rPr>
              <a:t>Power Factor Correction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43484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1C1C1C"/>
                </a:solidFill>
                <a:latin typeface="Segoe UI"/>
              </a:rPr>
              <a:t>Continuous monitoring of reactive power (kVARh) maintains power factor above 0.95, avoiding utility penalty surcharges.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 &amp; IoT Pipelines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Project Summary &amp; Quantitative Achievements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61872"/>
            <a:ext cx="11173968" cy="489204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61872"/>
            <a:ext cx="11173968" cy="64008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3619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0245C"/>
                </a:solidFill>
                <a:latin typeface="Segoe UI"/>
              </a:rPr>
              <a:t>KEY QUANTITATIVE DELIVERABLES (FY 2025)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965960"/>
            <a:ext cx="5120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965960"/>
            <a:ext cx="73152" cy="82296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07568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555555"/>
                </a:solidFill>
                <a:latin typeface="Segoe UI"/>
              </a:rPr>
              <a:t>Total Active Energy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500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0245C"/>
                </a:solidFill>
                <a:latin typeface="Segoe UI"/>
              </a:rPr>
              <a:t>19.35 GWh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4884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 i="0">
                <a:solidFill>
                  <a:srgbClr val="1C1C1C"/>
                </a:solidFill>
                <a:latin typeface="Segoe UI"/>
              </a:rPr>
              <a:t>52,560 hourly metered readings across 6 campus facilities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926080"/>
            <a:ext cx="5120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2926080"/>
            <a:ext cx="73152" cy="82296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03580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555555"/>
                </a:solidFill>
                <a:latin typeface="Segoe UI"/>
              </a:rPr>
              <a:t>Electricity Spend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31012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0245C"/>
                </a:solidFill>
                <a:latin typeface="Segoe UI"/>
              </a:rPr>
              <a:t>₹13.20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10896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 i="0">
                <a:solidFill>
                  <a:srgbClr val="1C1C1C"/>
                </a:solidFill>
                <a:latin typeface="Segoe UI"/>
              </a:rPr>
              <a:t>Time-of-Use tariff structure with peak penalty accounting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886200"/>
            <a:ext cx="5120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3886200"/>
            <a:ext cx="73152" cy="82296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99592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555555"/>
                </a:solidFill>
                <a:latin typeface="Segoe UI"/>
              </a:rPr>
              <a:t>Solar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702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0245C"/>
                </a:solidFill>
                <a:latin typeface="Segoe UI"/>
              </a:rPr>
              <a:t>1.14 GWh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06908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 i="0">
                <a:solidFill>
                  <a:srgbClr val="1C1C1C"/>
                </a:solidFill>
                <a:latin typeface="Segoe UI"/>
              </a:rPr>
              <a:t>5.90% Renewable penetration from 590 kWp installed PV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846320"/>
            <a:ext cx="5120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4846320"/>
            <a:ext cx="73152" cy="82296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95604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555555"/>
                </a:solidFill>
                <a:latin typeface="Segoe UI"/>
              </a:rPr>
              <a:t>Campus Peak Demand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2303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0245C"/>
                </a:solidFill>
                <a:latin typeface="Segoe UI"/>
              </a:rPr>
              <a:t>2,840 kW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02920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 i="0">
                <a:solidFill>
                  <a:srgbClr val="1C1C1C"/>
                </a:solidFill>
                <a:latin typeface="Segoe UI"/>
              </a:rPr>
              <a:t>Coincident summer cooling peak recorded in June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965960"/>
            <a:ext cx="5120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1965960"/>
            <a:ext cx="73152" cy="82296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07568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555555"/>
                </a:solidFill>
                <a:latin typeface="Segoe UI"/>
              </a:rPr>
              <a:t>Carbon Offset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3500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0245C"/>
                </a:solidFill>
                <a:latin typeface="Segoe UI"/>
              </a:rPr>
              <a:t>936.8 tCO2e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14884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 i="0">
                <a:solidFill>
                  <a:srgbClr val="1C1C1C"/>
                </a:solidFill>
                <a:latin typeface="Segoe UI"/>
              </a:rPr>
              <a:t>Direct clean generation abatement (0.82 kg/kWh CEA factor)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926080"/>
            <a:ext cx="5120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2926080"/>
            <a:ext cx="73152" cy="82296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03580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555555"/>
                </a:solidFill>
                <a:latin typeface="Segoe UI"/>
              </a:rPr>
              <a:t>Forecasting Accuracy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31012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0245C"/>
                </a:solidFill>
                <a:latin typeface="Segoe UI"/>
              </a:rPr>
              <a:t>R² = 0.996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10896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 i="0">
                <a:solidFill>
                  <a:srgbClr val="1C1C1C"/>
                </a:solidFill>
                <a:latin typeface="Segoe UI"/>
              </a:rPr>
              <a:t>MAPE = 0.61%, MAE = 270.1 kWh on 30-day holdout validation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886200"/>
            <a:ext cx="5120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3886200"/>
            <a:ext cx="73152" cy="82296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399592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555555"/>
                </a:solidFill>
                <a:latin typeface="Segoe UI"/>
              </a:rPr>
              <a:t>Operational Breaches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2702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0245C"/>
                </a:solidFill>
                <a:latin typeface="Segoe UI"/>
              </a:rPr>
              <a:t>196 Flagged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406908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 i="0">
                <a:solidFill>
                  <a:srgbClr val="1C1C1C"/>
                </a:solidFill>
                <a:latin typeface="Segoe UI"/>
              </a:rPr>
              <a:t>Shewhart ±3σ control limits identifying equipment leaks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846320"/>
            <a:ext cx="5120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4846320"/>
            <a:ext cx="73152" cy="82296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95604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 i="0">
                <a:solidFill>
                  <a:srgbClr val="555555"/>
                </a:solidFill>
                <a:latin typeface="Segoe UI"/>
              </a:rPr>
              <a:t>Interactive Serving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2303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0245C"/>
                </a:solidFill>
                <a:latin typeface="Segoe UI"/>
              </a:rPr>
              <a:t>Dual Delivery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502920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 i="0">
                <a:solidFill>
                  <a:srgbClr val="1C1C1C"/>
                </a:solidFill>
                <a:latin typeface="Segoe UI"/>
              </a:rPr>
              <a:t>Power BI Desktop (50+ DAX measures) &amp; Apache ECharts Web UI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 &amp; IoT Pipelines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