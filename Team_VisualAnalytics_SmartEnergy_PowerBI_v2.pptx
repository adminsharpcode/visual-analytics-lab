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7315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6FA3FF"/>
                </a:solidFill>
                <a:latin typeface="Segoe UI"/>
              </a:rPr>
              <a:t>MACSE603 - VISUAL ANALYTICS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3366CC"/>
                </a:solidFill>
                <a:latin typeface="Segoe UI"/>
              </a:rPr>
              <a:t>PROJECT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36192"/>
            <a:ext cx="106070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800" b="1" i="0">
                <a:solidFill>
                  <a:srgbClr val="10245C"/>
                </a:solidFill>
                <a:latin typeface="Segoe UI"/>
              </a:rPr>
              <a:t>Smart Energy Consumption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800" b="1" i="0">
                <a:solidFill>
                  <a:srgbClr val="10245C"/>
                </a:solidFill>
                <a:latin typeface="Segoe UI"/>
              </a:rPr>
              <a:t>Visualization Dashboard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800" b="1" i="0">
                <a:solidFill>
                  <a:srgbClr val="3366CC"/>
                </a:solidFill>
                <a:latin typeface="Segoe UI"/>
              </a:rPr>
              <a:t>Using Power BI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4448"/>
            <a:ext cx="12801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555555"/>
                </a:solidFill>
                <a:latin typeface="Segoe UI"/>
              </a:rPr>
              <a:t>TEAM MEMBERS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251960"/>
            <a:ext cx="3401568" cy="13716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251960"/>
            <a:ext cx="3401568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8056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>
                <a:solidFill>
                  <a:srgbClr val="10245C"/>
                </a:solidFill>
                <a:latin typeface="Segoe UI"/>
              </a:rPr>
              <a:t>Vedant Nimkar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26MML0045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TEAM LEADER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4251960"/>
            <a:ext cx="3401568" cy="13716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4251960"/>
            <a:ext cx="3401568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448056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>
                <a:solidFill>
                  <a:srgbClr val="10245C"/>
                </a:solidFill>
                <a:latin typeface="Segoe UI"/>
              </a:rPr>
              <a:t>Jitesh Bobde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26MML0025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MEMBER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7576" y="4251960"/>
            <a:ext cx="3401568" cy="13716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7576" y="4251960"/>
            <a:ext cx="3401568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48056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>
                <a:solidFill>
                  <a:srgbClr val="10245C"/>
                </a:solidFill>
                <a:latin typeface="Segoe UI"/>
              </a:rPr>
              <a:t>Ayush Sharma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26MML0043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1">
                <a:solidFill>
                  <a:srgbClr val="555555"/>
                </a:solidFill>
                <a:latin typeface="Segoe UI"/>
              </a:rPr>
              <a:t>Literature review of six research papers  -  two papers per team member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629400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6FA3FF"/>
                </a:solidFill>
                <a:latin typeface="Segoe UI"/>
              </a:rPr>
              <a:t>M.Tech -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Abstract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86400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86400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179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ABSTRACT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01952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0" i="0">
                <a:solidFill>
                  <a:srgbClr val="1C1C1C"/>
                </a:solidFill>
                <a:latin typeface="Segoe UI"/>
              </a:rPr>
              <a:t>This work reviews six studies on smart energy monitoring, electricity-consumption analytics, interactive visualization, forecasting and Power BI dashboards.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0" i="0">
                <a:solidFill>
                  <a:srgbClr val="1C1C1C"/>
                </a:solidFill>
                <a:latin typeface="Segoe UI"/>
              </a:rPr>
              <a:t>The literature shows that effective dashboards depend on reliable data collection, data cleaning, dimensional modeling, meaningful visual encoding, interactivity and actionable analytics.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1C1C1C"/>
                </a:solidFill>
                <a:latin typeface="Segoe UI"/>
              </a:rPr>
              <a:t>These findings support the proposed project: a Power BI dashboard that helps users understand consumption trends, detect high-use periods, compare consumers or facilities, and support energy-efficiency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5179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B06A00"/>
                </a:solidFill>
                <a:latin typeface="Segoe UI"/>
              </a:rPr>
              <a:t>PROBLEM STATEMENT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901952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50">
                <a:solidFill>
                  <a:srgbClr val="3366CC"/>
                </a:solidFill>
                <a:latin typeface="Segoe UI"/>
              </a:rPr>
              <a:t>▪   </a:t>
            </a:r>
            <a:r>
              <a:rPr sz="1250" b="1">
                <a:solidFill>
                  <a:srgbClr val="10245C"/>
                </a:solidFill>
                <a:latin typeface="Segoe UI"/>
              </a:rPr>
              <a:t>Fragmented data - </a:t>
            </a:r>
            <a:r>
              <a:rPr sz="1250">
                <a:solidFill>
                  <a:srgbClr val="1C1C1C"/>
                </a:solidFill>
                <a:latin typeface="Segoe UI"/>
              </a:rPr>
              <a:t>consumption readings are spread across smart meters, sensors and billing records with no common format.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50">
                <a:solidFill>
                  <a:srgbClr val="3366CC"/>
                </a:solidFill>
                <a:latin typeface="Segoe UI"/>
              </a:rPr>
              <a:t>▪   </a:t>
            </a:r>
            <a:r>
              <a:rPr sz="1250" b="1">
                <a:solidFill>
                  <a:srgbClr val="10245C"/>
                </a:solidFill>
                <a:latin typeface="Segoe UI"/>
              </a:rPr>
              <a:t>Poor standardisation - </a:t>
            </a:r>
            <a:r>
              <a:rPr sz="1250">
                <a:solidFill>
                  <a:srgbClr val="1C1C1C"/>
                </a:solidFill>
                <a:latin typeface="Segoe UI"/>
              </a:rPr>
              <a:t>inconsistent units, missing values and outliers make raw energy data difficult to trust.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50">
                <a:solidFill>
                  <a:srgbClr val="3366CC"/>
                </a:solidFill>
                <a:latin typeface="Segoe UI"/>
              </a:rPr>
              <a:t>▪   </a:t>
            </a:r>
            <a:r>
              <a:rPr sz="1250" b="1">
                <a:solidFill>
                  <a:srgbClr val="10245C"/>
                </a:solidFill>
                <a:latin typeface="Segoe UI"/>
              </a:rPr>
              <a:t>No single view - </a:t>
            </a:r>
            <a:r>
              <a:rPr sz="1250">
                <a:solidFill>
                  <a:srgbClr val="1C1C1C"/>
                </a:solidFill>
                <a:latin typeface="Segoe UI"/>
              </a:rPr>
              <a:t>stakeholders cannot easily see trends, peak periods or compare consumers in one place.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50">
                <a:solidFill>
                  <a:srgbClr val="3366CC"/>
                </a:solidFill>
                <a:latin typeface="Segoe UI"/>
              </a:rPr>
              <a:t>▪   </a:t>
            </a:r>
            <a:r>
              <a:rPr sz="1250" b="1">
                <a:solidFill>
                  <a:srgbClr val="10245C"/>
                </a:solidFill>
                <a:latin typeface="Segoe UI"/>
              </a:rPr>
              <a:t>Observation without action - </a:t>
            </a:r>
            <a:r>
              <a:rPr sz="1250">
                <a:solidFill>
                  <a:srgbClr val="1C1C1C"/>
                </a:solidFill>
                <a:latin typeface="Segoe UI"/>
              </a:rPr>
              <a:t>most reports describe past usage but do not flag anomalies or forecast future demand.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50">
                <a:solidFill>
                  <a:srgbClr val="3366CC"/>
                </a:solidFill>
                <a:latin typeface="Segoe UI"/>
              </a:rPr>
              <a:t>▪   </a:t>
            </a:r>
            <a:r>
              <a:rPr sz="1250" b="1">
                <a:solidFill>
                  <a:srgbClr val="10245C"/>
                </a:solidFill>
                <a:latin typeface="Segoe UI"/>
              </a:rPr>
              <a:t>Disconnected solutions - </a:t>
            </a:r>
            <a:r>
              <a:rPr sz="1250">
                <a:solidFill>
                  <a:srgbClr val="1C1C1C"/>
                </a:solidFill>
                <a:latin typeface="Segoe UI"/>
              </a:rPr>
              <a:t>existing work addresses Power BI reporting, IoT monitoring or machine learning separately, not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98448"/>
            <a:ext cx="5477256" cy="148132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68580" cy="14813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81328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6FA3FF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481328"/>
            <a:ext cx="4343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Build the dashboard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Develop an interactive Power BI dashboard for smart energy consumption using a documented ETL and star-schema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62656"/>
            <a:ext cx="5477256" cy="148132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62656"/>
            <a:ext cx="68580" cy="148132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145536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6FA3FF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145536"/>
            <a:ext cx="4343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Report core KPIs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Present total energy and cost KPIs with explainable DAX measures so every number can be traced to its source.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26864"/>
            <a:ext cx="5477256" cy="148132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68580" cy="14813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09744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6FA3FF"/>
                </a:solidFill>
                <a:latin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809744"/>
            <a:ext cx="4343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Reveal consumption patterns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Show daily, weekly, monthly and hourly trends and identify peak-demand periods and load profiles.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298448"/>
            <a:ext cx="5477256" cy="148132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298448"/>
            <a:ext cx="68580" cy="148132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1481328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6FA3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481328"/>
            <a:ext cx="4343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Enable comparison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Compare consumers, buildings or facilities and rank the Top-N high-consumption entities.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962656"/>
            <a:ext cx="5477256" cy="148132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962656"/>
            <a:ext cx="68580" cy="14813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3145536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6FA3FF"/>
                </a:solidFill>
                <a:latin typeface="Sego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45536"/>
            <a:ext cx="4343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Add diagnostic analytics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Flag anomalies, provide forecast charts and show renewable-versus-grid contribution where data allows.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626864"/>
            <a:ext cx="5477256" cy="148132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9632" y="4626864"/>
            <a:ext cx="68580" cy="148132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4809744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6FA3FF"/>
                </a:solidFill>
                <a:latin typeface="Sego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4809744"/>
            <a:ext cx="4343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Support investigation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Provide slicers for date, location, consumer, tariff and appliance plus drill-through pages for detail.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Literature Review &amp; Related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1">
                <a:solidFill>
                  <a:srgbClr val="555555"/>
                </a:solidFill>
                <a:latin typeface="Segoe UI"/>
              </a:rPr>
              <a:t>Six papers reviewed - two per team member - covering BI workflows, big-data visualization, IoT sensing and machine-learning analytics.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36192"/>
          <a:ext cx="11173968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2880360"/>
                <a:gridCol w="1600200"/>
                <a:gridCol w="4800600"/>
                <a:gridCol w="1508760"/>
              </a:tblGrid>
              <a:tr h="6596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64008" marR="64008">
                    <a:solidFill>
                      <a:srgbClr val="10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Paper / Study</a:t>
                      </a:r>
                    </a:p>
                  </a:txBody>
                  <a:tcPr anchor="ctr" marL="64008" marR="64008">
                    <a:solidFill>
                      <a:srgbClr val="10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anchor="ctr" marL="64008" marR="64008">
                    <a:solidFill>
                      <a:srgbClr val="10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contribution</a:t>
                      </a:r>
                    </a:p>
                  </a:txBody>
                  <a:tcPr anchor="ctr" marL="64008" marR="64008">
                    <a:solidFill>
                      <a:srgbClr val="10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Reviewer</a:t>
                      </a:r>
                    </a:p>
                  </a:txBody>
                  <a:tcPr anchor="ctr" marL="64008" marR="64008">
                    <a:solidFill>
                      <a:srgbClr val="10245C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366CC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10245C"/>
                          </a:solidFill>
                          <a:latin typeface="Segoe UI"/>
                        </a:rPr>
                        <a:t>Energy Consumption Distribution in Portugal: A Business Intelligence Solution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00" i="1">
                          <a:solidFill>
                            <a:srgbClr val="555555"/>
                          </a:solidFill>
                          <a:latin typeface="Segoe UI"/>
                        </a:rPr>
                        <a:t>NOVA IMS, 2024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50">
                          <a:solidFill>
                            <a:srgbClr val="1C1C1C"/>
                          </a:solidFill>
                          <a:latin typeface="Segoe UI"/>
                        </a:rPr>
                        <a:t>Design Science Research Methodology; BI conceptual model and interactive Power BI dashboard over monthly, hourly and geographic data. Lesson: start from explicit business questions.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3366CC"/>
                          </a:solidFill>
                          <a:latin typeface="Segoe UI"/>
                        </a:rPr>
                        <a:t>Vedant Nimkar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366CC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10245C"/>
                          </a:solidFill>
                          <a:latin typeface="Segoe UI"/>
                        </a:rPr>
                        <a:t>Electricity Consumption using Big Data Analytics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00" i="1">
                          <a:solidFill>
                            <a:srgbClr val="555555"/>
                          </a:solidFill>
                          <a:latin typeface="Segoe UI"/>
                        </a:rPr>
                        <a:t>Awate et al., IJARSCT 3(2), 2023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50">
                          <a:solidFill>
                            <a:srgbClr val="1C1C1C"/>
                          </a:solidFill>
                          <a:latin typeface="Segoe UI"/>
                        </a:rPr>
                        <a:t>500 residential consumers over 24 months. Power BI visuals plus Prophet forecasting and consumer ranking. Limitation: monthly data restricts temporal granularity.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3366CC"/>
                          </a:solidFill>
                          <a:latin typeface="Segoe UI"/>
                        </a:rPr>
                        <a:t>Vedant Nimkar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366CC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10245C"/>
                          </a:solidFill>
                          <a:latin typeface="Segoe UI"/>
                        </a:rPr>
                        <a:t>Energy Calculation Using Power BI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00" i="1">
                          <a:solidFill>
                            <a:srgbClr val="555555"/>
                          </a:solidFill>
                          <a:latin typeface="Segoe UI"/>
                        </a:rPr>
                        <a:t>IJRPR, 2023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50">
                          <a:solidFill>
                            <a:srgbClr val="1C1C1C"/>
                          </a:solidFill>
                          <a:latin typeface="Segoe UI"/>
                        </a:rPr>
                        <a:t>End-to-end workflow: collect, clean, transform, model, visualise, add slicers, test accuracy, publish. Emphasises usability and stakeholder-oriented layout.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3366CC"/>
                          </a:solidFill>
                          <a:latin typeface="Segoe UI"/>
                        </a:rPr>
                        <a:t>Jitesh Bobde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366CC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10245C"/>
                          </a:solidFill>
                          <a:latin typeface="Segoe UI"/>
                        </a:rPr>
                        <a:t>Visualization as a Means of Big Data Management: Qatar Electricity Consumption Data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00" i="1">
                          <a:solidFill>
                            <a:srgbClr val="555555"/>
                          </a:solidFill>
                          <a:latin typeface="Segoe UI"/>
                        </a:rPr>
                        <a:t>Soliman &amp; Fetais, IEEE GCCCE, 2017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50">
                          <a:solidFill>
                            <a:srgbClr val="1C1C1C"/>
                          </a:solidFill>
                          <a:latin typeface="Segoe UI"/>
                        </a:rPr>
                        <a:t>Visualization converts large inconsistent energy data into information. Identifies standardisation, integration, speed and outlier challenges.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3366CC"/>
                          </a:solidFill>
                          <a:latin typeface="Segoe UI"/>
                        </a:rPr>
                        <a:t>Jitesh Bobde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366CC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10245C"/>
                          </a:solidFill>
                          <a:latin typeface="Segoe UI"/>
                        </a:rPr>
                        <a:t>An IoT-Enabled Smart Energy Monitoring and Fault Prediction System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00" i="1">
                          <a:solidFill>
                            <a:srgbClr val="555555"/>
                          </a:solidFill>
                          <a:latin typeface="Segoe UI"/>
                        </a:rPr>
                        <a:t>IJIRT, 2026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50">
                          <a:solidFill>
                            <a:srgbClr val="1C1C1C"/>
                          </a:solidFill>
                          <a:latin typeface="Segoe UI"/>
                        </a:rPr>
                        <a:t>ESP32 voltage/current sensing with calibration, MQTT to cloud, real-time dashboards, regression forecasting and fault anticipation. Dashboard is web-based, not Power BI.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3366CC"/>
                          </a:solidFill>
                          <a:latin typeface="Segoe UI"/>
                        </a:rPr>
                        <a:t>Ayush Sharma</a:t>
                      </a:r>
                    </a:p>
                  </a:txBody>
                  <a:tcPr anchor="ctr" marL="64008" marR="64008" marT="36576" marB="36576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366CC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10245C"/>
                          </a:solidFill>
                          <a:latin typeface="Segoe UI"/>
                        </a:rPr>
                        <a:t>Interactive Machine Learning-Powered Dashboard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00" i="1">
                          <a:solidFill>
                            <a:srgbClr val="555555"/>
                          </a:solidFill>
                          <a:latin typeface="Segoe UI"/>
                        </a:rPr>
                        <a:t>ESANN Proceedings, 2024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850">
                          <a:solidFill>
                            <a:srgbClr val="1C1C1C"/>
                          </a:solidFill>
                          <a:latin typeface="Segoe UI"/>
                        </a:rPr>
                        <a:t>Machine learning with interactive visual analytics: t-SNE maps of daily demand profiles, data-cube filtering, sparklines and morphing projections.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3366CC"/>
                          </a:solidFill>
                          <a:latin typeface="Segoe UI"/>
                        </a:rPr>
                        <a:t>Ayush Sharma</a:t>
                      </a:r>
                    </a:p>
                  </a:txBody>
                  <a:tcPr anchor="ctr" marL="64008" marR="64008" marT="36576" marB="36576">
                    <a:solidFill>
                      <a:srgbClr val="F3F7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Research Gap Identified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3366CC"/>
                </a:solidFill>
                <a:latin typeface="Segoe UI"/>
              </a:rPr>
              <a:t>RECURRING REQUIREMENTS ACROSS THE SIX PAPERS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72768"/>
            <a:ext cx="5532120" cy="65836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008" cy="65836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2821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6FA3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0078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Reliable and standardized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22576"/>
            <a:ext cx="5532120" cy="65836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322576"/>
            <a:ext cx="64008" cy="65836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47802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6FA3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505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A clear, documented ETL 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72384"/>
            <a:ext cx="5532120" cy="65836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072384"/>
            <a:ext cx="64008" cy="65836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2278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6FA3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004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A well-structured analytical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65836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64008" cy="65836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9776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6FA3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502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Interactive visuals that answer stakeholder questions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572000"/>
            <a:ext cx="5532120" cy="65836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572000"/>
            <a:ext cx="64008" cy="65836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7274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6FA3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0001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Predictive or diagnostic features that turn observation into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40680"/>
            <a:ext cx="5532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1">
                <a:solidFill>
                  <a:srgbClr val="555555"/>
                </a:solidFill>
                <a:latin typeface="Segoe UI"/>
              </a:rPr>
              <a:t>Power BI suits the reporting and exploration layer, while Python, SQL, IoT platforms and ML services provide data preparation and advanced analytics.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207008"/>
            <a:ext cx="5413248" cy="2084831"/>
          </a:xfrm>
          <a:prstGeom prst="rect">
            <a:avLst/>
          </a:prstGeom>
          <a:solidFill>
            <a:srgbClr val="FFFFFF"/>
          </a:solidFill>
          <a:ln w="19050">
            <a:solidFill>
              <a:srgbClr val="B0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1207008"/>
            <a:ext cx="5413248" cy="64008"/>
          </a:xfrm>
          <a:prstGeom prst="rect">
            <a:avLst/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144475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B06A00"/>
                </a:solidFill>
                <a:latin typeface="Segoe UI"/>
              </a:rPr>
              <a:t>THE GAP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1810512"/>
            <a:ext cx="4800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1" i="0">
                <a:solidFill>
                  <a:srgbClr val="10245C"/>
                </a:solidFill>
                <a:latin typeface="Segoe UI"/>
              </a:rPr>
              <a:t>Existing work focuses on either Power BI reporting, IoT monitoring, or machine-learning analytics in isolation.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No single study integrates all three layers into one practical, documented and evaluated dashboard.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456432"/>
            <a:ext cx="5413248" cy="26700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3456432"/>
            <a:ext cx="5413248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69417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Segoe UI"/>
              </a:rPr>
              <a:t>OUR PROPOSED CONTRIBUTION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059936"/>
            <a:ext cx="480060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3366CC"/>
                </a:solidFill>
                <a:latin typeface="Segoe UI"/>
              </a:rPr>
              <a:t>▪   </a:t>
            </a:r>
            <a:r>
              <a:rPr sz="1150">
                <a:solidFill>
                  <a:srgbClr val="1C1C1C"/>
                </a:solidFill>
                <a:latin typeface="Segoe UI"/>
              </a:rPr>
              <a:t>Integrate reporting, IoT data and analytics in one dashboard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3366CC"/>
                </a:solidFill>
                <a:latin typeface="Segoe UI"/>
              </a:rPr>
              <a:t>▪   </a:t>
            </a:r>
            <a:r>
              <a:rPr sz="1150">
                <a:solidFill>
                  <a:srgbClr val="1C1C1C"/>
                </a:solidFill>
                <a:latin typeface="Segoe UI"/>
              </a:rPr>
              <a:t>Document explicit data-quality checks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3366CC"/>
                </a:solidFill>
                <a:latin typeface="Segoe UI"/>
              </a:rPr>
              <a:t>▪   </a:t>
            </a:r>
            <a:r>
              <a:rPr sz="1150">
                <a:solidFill>
                  <a:srgbClr val="1C1C1C"/>
                </a:solidFill>
                <a:latin typeface="Segoe UI"/>
              </a:rPr>
              <a:t>Provide role-specific views for different stakeholders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3366CC"/>
                </a:solidFill>
                <a:latin typeface="Segoe UI"/>
              </a:rPr>
              <a:t>▪   </a:t>
            </a:r>
            <a:r>
              <a:rPr sz="1150">
                <a:solidFill>
                  <a:srgbClr val="1C1C1C"/>
                </a:solidFill>
                <a:latin typeface="Segoe UI"/>
              </a:rPr>
              <a:t>Use explainable KPIs traceable to source data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3366CC"/>
                </a:solidFill>
                <a:latin typeface="Segoe UI"/>
              </a:rPr>
              <a:t>▪   </a:t>
            </a:r>
            <a:r>
              <a:rPr sz="1150">
                <a:solidFill>
                  <a:srgbClr val="1C1C1C"/>
                </a:solidFill>
                <a:latin typeface="Segoe UI"/>
              </a:rPr>
              <a:t>Evaluate on usability and decision usefulness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Proposed System Design, Architecture &amp;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498079" cy="786384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2148840" cy="78638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90472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DATA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380744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Smart meters  |  IoT sensors (ESP32 via MQTT)  |  Billing records  |  Weather / tariff reference data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160520" y="2039112"/>
            <a:ext cx="201168" cy="146304"/>
          </a:xfrm>
          <a:prstGeom prst="downArrow">
            <a:avLst/>
          </a:prstGeom>
          <a:solidFill>
            <a:srgbClr val="6F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85416"/>
            <a:ext cx="7498079" cy="786384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85416"/>
            <a:ext cx="2148840" cy="78638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INGESTION &amp; ETL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31720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Power Query cleaning  |  unit standardisation  |  missing-value treatment  |  outlier handling  |  scheduled refresh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4160520" y="2990088"/>
            <a:ext cx="201168" cy="146304"/>
          </a:xfrm>
          <a:prstGeom prst="downArrow">
            <a:avLst/>
          </a:prstGeom>
          <a:solidFill>
            <a:srgbClr val="6F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36392"/>
            <a:ext cx="7498079" cy="786384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136392"/>
            <a:ext cx="2148840" cy="78638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392424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ANALYTICAL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282696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Star schema (fact: consumption readings; dimensions: date, consumer, location, tariff, appliance)  |  DAX measures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4160520" y="3941064"/>
            <a:ext cx="201168" cy="146304"/>
          </a:xfrm>
          <a:prstGeom prst="downArrow">
            <a:avLst/>
          </a:prstGeom>
          <a:solidFill>
            <a:srgbClr val="6F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087368"/>
            <a:ext cx="7498079" cy="786384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087368"/>
            <a:ext cx="2148840" cy="78638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343400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ANALYTICS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233672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Forecasting (Prophet / regression)  |  anomaly detection  |  load-shape clustering with t-SNE  |  Top-N ranking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4160520" y="4892040"/>
            <a:ext cx="201168" cy="146304"/>
          </a:xfrm>
          <a:prstGeom prst="downArrow">
            <a:avLst/>
          </a:prstGeom>
          <a:solidFill>
            <a:srgbClr val="6F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38344"/>
            <a:ext cx="7498079" cy="786384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038344"/>
            <a:ext cx="2148840" cy="78638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294376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PRESENTATION - POWER BI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5184648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KPI cards  |  trend &amp; peak-demand charts  |  load heatmaps  |  comparisons  |  slicers  |  drill-through pages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1234440"/>
            <a:ext cx="345643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1234440"/>
            <a:ext cx="3456432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14630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3366CC"/>
                </a:solidFill>
                <a:latin typeface="Segoe UI"/>
              </a:rPr>
              <a:t>METHODS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1810512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Design Science Research Methodology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Business questions defined first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Iterative build with user feedback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Star-schema dimensional modeling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Accuracy testing before publishing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913632"/>
            <a:ext cx="3456432" cy="22128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913632"/>
            <a:ext cx="3456432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41422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Segoe UI"/>
              </a:rPr>
              <a:t>EVALUATION METRICS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489704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Refresh reliability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Visual clarity and usability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Forecast error where used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50">
                <a:solidFill>
                  <a:srgbClr val="3366CC"/>
                </a:solidFill>
                <a:latin typeface="Segoe UI"/>
              </a:rPr>
              <a:t>▪   </a:t>
            </a:r>
            <a:r>
              <a:rPr sz="1050">
                <a:solidFill>
                  <a:srgbClr val="1C1C1C"/>
                </a:solidFill>
                <a:latin typeface="Segoe UI"/>
              </a:rPr>
              <a:t>Actionable energy-saving findings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6FA3FF"/>
                </a:solidFill>
                <a:latin typeface="Segoe U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102412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Segoe UI"/>
              </a:rPr>
              <a:t>Visual Design Concepts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6FA3FF"/>
                </a:solidFill>
                <a:latin typeface="Segoe UI"/>
              </a:rPr>
              <a:t>Illustrative renderings of the analytical visuals the dashboard will deliver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Load-Profile Heatmap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tmap_load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126" y="1188720"/>
            <a:ext cx="5801442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3250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Synthetic illustration: hour-of-day against day-of-week consumption intensity, with one injected anomaly highlighted.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WHAT IT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Each cell is average consumption for one hour on one weekday. Colour intensity exposes the building's daily rhythm at a glance - a morning ramp, a dominant evening peak, and a clearly different weekend pattern.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80560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44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HOW IT IS 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44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A matrix visual in Power BI over the consumption fact table, with hour and weekday pulled from the date dimension. Conditional formatting drives the colour scale from a DAX average measure.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80560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400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DECISION IT SUPPORTS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400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Identifies exactly when peak demand occurs so tariff shifting, load staggering and equipment scheduling can be targeted at the right hours instead of the whole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44768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(hourly granularity) and Paper 6 (load-profile visuals)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Demand Forecast with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orecast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043" y="1188720"/>
            <a:ext cx="6315608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3250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Synthetic illustration: historical consumption with a forward forecast and 95% prediction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WHAT IT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The solid line is measured history; the dashed line projects future demand. The widening band communicates that confidence decays the further ahead the model predicts.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80560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44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HOW IT IS 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44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Prophet decomposes the series into trend plus weekly and monthly seasonality. Results are written back to the model and rendered as a Power BI line-and-area combination.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80560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400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DECISION IT SUPPORTS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400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Enables procurement and capacity planning against an expected range rather than a single number, and makes forecast error measurable as an evaluation metric.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44768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(Prophet forecasting) and Paper 5 (regression forecasting)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Automated Anomaly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nomal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71" y="1188720"/>
            <a:ext cx="6603553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3250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Synthetic illustration: consumption against a statistical control band, with deviations flagged and quantified.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WHAT IT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The shaded band is expected behaviour derived from rolling statistics. Points breaching the threshold are marked in red and annotated with the size of the deviation in kWh.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80560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44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HOW IT IS 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44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A DAX measure computes a rolling mean and standard deviation; any reading beyond 2.2 sigma is flagged. The flag becomes a field that drives both the marker and an alert card.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80560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400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DECISION IT SUPPORTS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400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Converts passive reporting into action - equipment faults, meter errors and wasteful overnight loads surface immediately instead of at the end of a billing cycle.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44768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4 (outlier handling) and Paper 5 (fault prediction)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Load-Shape Clustering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sne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817" y="1188720"/>
            <a:ext cx="3644060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3250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Synthetic illustration: t-SNE projection grouping consumers by the shape of their daily demand curve.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WHAT IT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Every point is one consumer-day compressed from 24 hourly readings into two dimensions. Points that sit together behave alike, so distinct usage personalities emerge as visible clusters.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80560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44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HOW IT IS 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44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Hourly profiles are normalised, then t-SNE reduces them to two dimensions in Python. Cluster labels return to Power BI as a dimension that every other visual can filter 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80560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400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DECISION IT SUPPORTS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400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Allows efficiency programmes to be tailored per segment, and makes the irregular cluster a natural watch-list for investigation.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44768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6 (t-SNE maps, morphing projections)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Top-N Ranking with Sparklines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n_spark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259" y="1188720"/>
            <a:ext cx="5359176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3250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Synthetic illustration: highest-consuming entities with inline trend sparklines and period-on-period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WHAT IT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Rank, absolute consumption, a compact trend line and a directional delta sit on a single row, so magnitude and momentum are readable together without opening another page.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80560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44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HOW IT IS 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44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A Power BI table visual with data bars, native sparklines and a DAX time-intelligence measure for the percentage change. Top-N filtering is applied through a rank measure.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80560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400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DECISION IT SUPPORTS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400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Directs limited engineering attention to the few entities that dominate the bill, and separates the ones getting worse from the ones already improving.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44768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(consumer ranking) and Paper 6 (sparklines)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End-to-End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56" y="1188720"/>
            <a:ext cx="8640582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3250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Reference architecture: raw sensing through to the published Power BI dashboard, with quality gates at every hand-off.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Smart meters, ESP32 sensors and billing extracts publish over MQTT into a cloud store, giving one landing zone regardless of source format.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80560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44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PREPARATION &amp;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44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Power Query standardises units and treats missing values, then loads a star schema whose DAX measures keep every KPI traceable to its source rows.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80560"/>
            <a:ext cx="3578352" cy="182880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80560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400" y="4681728"/>
            <a:ext cx="31760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ANALYTICS &amp; 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400" y="4992624"/>
            <a:ext cx="317601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050" b="0" i="0">
                <a:solidFill>
                  <a:srgbClr val="1C1C1C"/>
                </a:solidFill>
                <a:latin typeface="Segoe UI"/>
              </a:rPr>
              <a:t>Forecasting, anomaly detection and clustering enrich the model before Power BI publishes role-specific pages with slicers and drill-through.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44768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Integrates Papers 1, 3, 4 and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