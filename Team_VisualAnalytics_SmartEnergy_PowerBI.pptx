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73152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6FA3FF"/>
                </a:solidFill>
                <a:latin typeface="Segoe UI" panose="020B0502040204020203"/>
              </a:rPr>
              <a:t>MACSE603 - VISUAL ANALYTICS LAB</a:t>
            </a:r>
            <a:endParaRPr sz="1200" b="1" i="0">
              <a:solidFill>
                <a:srgbClr val="6FA3FF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3366CC"/>
                </a:solidFill>
                <a:latin typeface="Segoe UI" panose="020B0502040204020203"/>
              </a:rPr>
              <a:t>PROJECT PRESENTATION</a:t>
            </a:r>
            <a:endParaRPr sz="1250" b="1" i="0">
              <a:solidFill>
                <a:srgbClr val="3366CC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800" b="1" i="0">
                <a:solidFill>
                  <a:srgbClr val="10245C"/>
                </a:solidFill>
                <a:latin typeface="Segoe UI" panose="020B0502040204020203"/>
              </a:rPr>
              <a:t>Smart Energy Consumption</a:t>
            </a:r>
            <a:endParaRPr sz="3800" b="1" i="0">
              <a:solidFill>
                <a:srgbClr val="10245C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800" b="1" i="0">
                <a:solidFill>
                  <a:srgbClr val="10245C"/>
                </a:solidFill>
                <a:latin typeface="Segoe UI" panose="020B0502040204020203"/>
              </a:rPr>
              <a:t>Visualization Dashboard</a:t>
            </a:r>
            <a:endParaRPr sz="3800" b="1" i="0">
              <a:solidFill>
                <a:srgbClr val="10245C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 i="0">
                <a:solidFill>
                  <a:srgbClr val="3366CC"/>
                </a:solidFill>
                <a:latin typeface="Segoe UI" panose="020B0502040204020203"/>
              </a:rPr>
              <a:t>Using Power BI</a:t>
            </a:r>
            <a:endParaRPr sz="3800" b="1" i="0">
              <a:solidFill>
                <a:srgbClr val="3366CC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3584448"/>
            <a:ext cx="12801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555555"/>
                </a:solidFill>
                <a:latin typeface="Segoe UI" panose="020B0502040204020203"/>
              </a:rPr>
              <a:t>TEAM MEMBERS</a:t>
            </a:r>
            <a:endParaRPr sz="1150" b="1" i="0">
              <a:solidFill>
                <a:srgbClr val="555555"/>
              </a:solidFill>
              <a:latin typeface="Segoe UI" panose="020B0502040204020203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240" y="4251960"/>
            <a:ext cx="3401568" cy="13716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251960"/>
            <a:ext cx="3401568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48056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50" b="1" i="0">
                <a:solidFill>
                  <a:srgbClr val="10245C"/>
                </a:solidFill>
                <a:latin typeface="Segoe UI" panose="020B0502040204020203"/>
              </a:rPr>
              <a:t>Vedant Nimkar</a:t>
            </a:r>
            <a:endParaRPr sz="1650" b="1" i="0">
              <a:solidFill>
                <a:srgbClr val="10245C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Segoe UI" panose="020B0502040204020203"/>
              </a:rPr>
              <a:t>Reg. No. 26MML0045</a:t>
            </a:r>
            <a:endParaRPr sz="1200" b="0" i="0">
              <a:solidFill>
                <a:srgbClr val="555555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1E7A4F"/>
                </a:solidFill>
                <a:latin typeface="Segoe UI" panose="020B0502040204020203"/>
              </a:rPr>
              <a:t>TEAM LEADER</a:t>
            </a:r>
            <a:endParaRPr sz="950" b="1" i="0">
              <a:solidFill>
                <a:srgbClr val="1E7A4F"/>
              </a:solidFill>
              <a:latin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07408" y="4251960"/>
            <a:ext cx="3401568" cy="13716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4251960"/>
            <a:ext cx="3401568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448056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50" b="1" i="0">
                <a:solidFill>
                  <a:srgbClr val="10245C"/>
                </a:solidFill>
                <a:latin typeface="Segoe UI" panose="020B0502040204020203"/>
              </a:rPr>
              <a:t>Jitesh Bobde</a:t>
            </a:r>
            <a:endParaRPr sz="1650" b="1" i="0">
              <a:solidFill>
                <a:srgbClr val="10245C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Segoe UI" panose="020B0502040204020203"/>
              </a:rPr>
              <a:t>Reg. No. 26MML0025</a:t>
            </a:r>
            <a:endParaRPr sz="1200" b="0" i="0">
              <a:solidFill>
                <a:srgbClr val="555555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 panose="020B0502040204020203"/>
              </a:rPr>
              <a:t>MEMBER</a:t>
            </a:r>
            <a:endParaRPr sz="950" b="1" i="0">
              <a:solidFill>
                <a:srgbClr val="3366CC"/>
              </a:solidFill>
              <a:latin typeface="Segoe UI" panose="020B0502040204020203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37576" y="4251960"/>
            <a:ext cx="3401568" cy="137160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6" y="4251960"/>
            <a:ext cx="3401568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4480560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50" b="1" i="0">
                <a:solidFill>
                  <a:srgbClr val="10245C"/>
                </a:solidFill>
                <a:latin typeface="Segoe UI" panose="020B0502040204020203"/>
              </a:rPr>
              <a:t>Ayush Sharma</a:t>
            </a:r>
            <a:endParaRPr sz="1650" b="1" i="0">
              <a:solidFill>
                <a:srgbClr val="10245C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55555"/>
                </a:solidFill>
                <a:latin typeface="Segoe UI" panose="020B0502040204020203"/>
              </a:rPr>
              <a:t>Reg. No. 26MML0043</a:t>
            </a:r>
            <a:endParaRPr sz="1200" b="0" i="0">
              <a:solidFill>
                <a:srgbClr val="555555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1" i="0">
                <a:solidFill>
                  <a:srgbClr val="3366CC"/>
                </a:solidFill>
                <a:latin typeface="Segoe UI" panose="020B0502040204020203"/>
              </a:rPr>
              <a:t>MEMBER</a:t>
            </a:r>
            <a:endParaRPr sz="950" b="1" i="0">
              <a:solidFill>
                <a:srgbClr val="3366CC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5870448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1">
                <a:solidFill>
                  <a:srgbClr val="555555"/>
                </a:solidFill>
                <a:latin typeface="Segoe UI" panose="020B0502040204020203"/>
              </a:rPr>
              <a:t>Literature review of six research papers  -  two papers per team member</a:t>
            </a:r>
            <a:endParaRPr sz="1250" b="0" i="1">
              <a:solidFill>
                <a:srgbClr val="555555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629400"/>
            <a:ext cx="10607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FA3FF"/>
                </a:solidFill>
                <a:latin typeface="Segoe UI" panose="020B0502040204020203"/>
              </a:rPr>
              <a:t>M.Tech - Computer Science and Engineering</a:t>
            </a:r>
            <a:endParaRPr sz="1000" b="0" i="0">
              <a:solidFill>
                <a:srgbClr val="6FA3F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 panose="020B0502040204020203"/>
              </a:rPr>
              <a:t>2</a:t>
            </a:r>
            <a:endParaRPr sz="19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 panose="020B0502040204020203"/>
              </a:rPr>
              <a:t>Abstract &amp; Problem Statement</a:t>
            </a:r>
            <a:endParaRPr sz="2500" b="1" i="0">
              <a:solidFill>
                <a:srgbClr val="10245C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5486400" cy="4892040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5486400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3366CC"/>
                </a:solidFill>
                <a:latin typeface="Segoe UI" panose="020B0502040204020203"/>
              </a:rPr>
              <a:t>ABSTRACT</a:t>
            </a:r>
            <a:endParaRPr sz="1150" b="1" i="0">
              <a:solidFill>
                <a:srgbClr val="3366CC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1901952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1C1C1C"/>
                </a:solidFill>
                <a:latin typeface="Segoe UI" panose="020B0502040204020203"/>
              </a:rPr>
              <a:t>This work reviews six studies on smart energy monitoring, electricity-consumption analytics, interactive visualization, forecasting and Power BI dashboards.</a:t>
            </a:r>
            <a:endParaRPr sz="1300" b="0" i="0">
              <a:solidFill>
                <a:srgbClr val="1C1C1C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1C1C1C"/>
                </a:solidFill>
                <a:latin typeface="Segoe UI" panose="020B0502040204020203"/>
              </a:rPr>
              <a:t>The literature shows that effective dashboards depend on reliable data collection, data cleaning, dimensional modeling, meaningful visual encoding, interactivity and actionable analytics.</a:t>
            </a:r>
            <a:endParaRPr sz="1300" b="0" i="0">
              <a:solidFill>
                <a:srgbClr val="1C1C1C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1C1C1C"/>
                </a:solidFill>
                <a:latin typeface="Segoe UI" panose="020B0502040204020203"/>
              </a:rPr>
              <a:t>These findings support the proposed project: a Power BI dashboard that helps users understand consumption trends, detect high-use periods, compare consumers or facilities, and support energy-efficiency decisions.</a:t>
            </a:r>
            <a:endParaRPr sz="130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47725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261872"/>
            <a:ext cx="5477256" cy="6400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51790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B06A00"/>
                </a:solidFill>
                <a:latin typeface="Segoe UI" panose="020B0502040204020203"/>
              </a:rPr>
              <a:t>PROBLEM STATEMENT</a:t>
            </a:r>
            <a:endParaRPr sz="1150" b="1" i="0">
              <a:solidFill>
                <a:srgbClr val="B06A00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9672" y="1901952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250" b="1">
                <a:solidFill>
                  <a:srgbClr val="10245C"/>
                </a:solidFill>
                <a:latin typeface="Segoe UI" panose="020B0502040204020203"/>
              </a:rPr>
              <a:t>Fragmented data - </a:t>
            </a:r>
            <a:r>
              <a:rPr sz="1250">
                <a:solidFill>
                  <a:srgbClr val="1C1C1C"/>
                </a:solidFill>
                <a:latin typeface="Segoe UI" panose="020B0502040204020203"/>
              </a:rPr>
              <a:t>consumption readings are spread across smart meters, sensors and billing records with no common format.</a:t>
            </a:r>
            <a:endParaRPr sz="12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250" b="1">
                <a:solidFill>
                  <a:srgbClr val="10245C"/>
                </a:solidFill>
                <a:latin typeface="Segoe UI" panose="020B0502040204020203"/>
              </a:rPr>
              <a:t>Poor standardisation - </a:t>
            </a:r>
            <a:r>
              <a:rPr sz="1250">
                <a:solidFill>
                  <a:srgbClr val="1C1C1C"/>
                </a:solidFill>
                <a:latin typeface="Segoe UI" panose="020B0502040204020203"/>
              </a:rPr>
              <a:t>inconsistent units, missing values and outliers make raw energy data difficult to trust.</a:t>
            </a:r>
            <a:endParaRPr sz="12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250" b="1">
                <a:solidFill>
                  <a:srgbClr val="10245C"/>
                </a:solidFill>
                <a:latin typeface="Segoe UI" panose="020B0502040204020203"/>
              </a:rPr>
              <a:t>No single view - </a:t>
            </a:r>
            <a:r>
              <a:rPr sz="1250">
                <a:solidFill>
                  <a:srgbClr val="1C1C1C"/>
                </a:solidFill>
                <a:latin typeface="Segoe UI" panose="020B0502040204020203"/>
              </a:rPr>
              <a:t>stakeholders cannot easily see trends, peak periods or compare consumers in one place.</a:t>
            </a:r>
            <a:endParaRPr sz="12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250" b="1">
                <a:solidFill>
                  <a:srgbClr val="10245C"/>
                </a:solidFill>
                <a:latin typeface="Segoe UI" panose="020B0502040204020203"/>
              </a:rPr>
              <a:t>Observation without action - </a:t>
            </a:r>
            <a:r>
              <a:rPr sz="1250">
                <a:solidFill>
                  <a:srgbClr val="1C1C1C"/>
                </a:solidFill>
                <a:latin typeface="Segoe UI" panose="020B0502040204020203"/>
              </a:rPr>
              <a:t>most reports describe past usage but do not flag anomalies or forecast future demand.</a:t>
            </a:r>
            <a:endParaRPr sz="12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2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250" b="1">
                <a:solidFill>
                  <a:srgbClr val="10245C"/>
                </a:solidFill>
                <a:latin typeface="Segoe UI" panose="020B0502040204020203"/>
              </a:rPr>
              <a:t>Disconnected solutions - </a:t>
            </a:r>
            <a:r>
              <a:rPr sz="1250">
                <a:solidFill>
                  <a:srgbClr val="1C1C1C"/>
                </a:solidFill>
                <a:latin typeface="Segoe UI" panose="020B0502040204020203"/>
              </a:rPr>
              <a:t>existing work addresses Power BI reporting, IoT monitoring or machine learning separately, not together.</a:t>
            </a:r>
            <a:endParaRPr sz="125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 panose="020B0502040204020203"/>
              </a:rPr>
              <a:t>MACSE603 - Visual Analytics Lab  |  Smart Energy Consumption Visualization Dashboard Using Power BI</a:t>
            </a:r>
            <a:endParaRPr sz="900" b="0" i="0">
              <a:solidFill>
                <a:srgbClr val="555555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 panose="020B0502040204020203"/>
              </a:rPr>
              <a:t>1</a:t>
            </a:r>
            <a:endParaRPr sz="900" b="1" i="0">
              <a:solidFill>
                <a:srgbClr val="3366C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 panose="020B0502040204020203"/>
              </a:rPr>
              <a:t>3</a:t>
            </a:r>
            <a:endParaRPr sz="19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 panose="020B0502040204020203"/>
              </a:rPr>
              <a:t>Objectives</a:t>
            </a:r>
            <a:endParaRPr sz="2500" b="1" i="0">
              <a:solidFill>
                <a:srgbClr val="10245C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477256" cy="148132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68580" cy="14813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6FA3FF"/>
                </a:solidFill>
                <a:latin typeface="Segoe UI" panose="020B0502040204020203"/>
              </a:rPr>
              <a:t>01</a:t>
            </a:r>
            <a:endParaRPr sz="1500" b="1" i="0">
              <a:solidFill>
                <a:srgbClr val="6FA3FF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7320" y="1481328"/>
            <a:ext cx="43434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0245C"/>
                </a:solidFill>
                <a:latin typeface="Segoe UI" panose="020B0502040204020203"/>
              </a:rPr>
              <a:t>Build the dashboard</a:t>
            </a:r>
            <a:endParaRPr sz="1400" b="1" i="0">
              <a:solidFill>
                <a:srgbClr val="10245C"/>
              </a:solidFill>
              <a:latin typeface="Segoe UI" panose="020B0502040204020203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 panose="020B0502040204020203"/>
              </a:rPr>
              <a:t>Develop an interactive Power BI dashboard for smart energy consumption using a documented ETL and star-schema model.</a:t>
            </a:r>
            <a:endParaRPr sz="115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2962656"/>
            <a:ext cx="5477256" cy="148132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62656"/>
            <a:ext cx="68580" cy="1481328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45536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6FA3FF"/>
                </a:solidFill>
                <a:latin typeface="Segoe UI" panose="020B0502040204020203"/>
              </a:rPr>
              <a:t>02</a:t>
            </a:r>
            <a:endParaRPr sz="1500" b="1" i="0">
              <a:solidFill>
                <a:srgbClr val="6FA3FF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17320" y="3145536"/>
            <a:ext cx="43434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0245C"/>
                </a:solidFill>
                <a:latin typeface="Segoe UI" panose="020B0502040204020203"/>
              </a:rPr>
              <a:t>Report core KPIs</a:t>
            </a:r>
            <a:endParaRPr sz="1400" b="1" i="0">
              <a:solidFill>
                <a:srgbClr val="10245C"/>
              </a:solidFill>
              <a:latin typeface="Segoe UI" panose="020B0502040204020203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 panose="020B0502040204020203"/>
              </a:rPr>
              <a:t>Present total energy and cost KPIs with explainable DAX measures so every number can be traced to its source.</a:t>
            </a:r>
            <a:endParaRPr sz="115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4626864"/>
            <a:ext cx="5477256" cy="148132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626864"/>
            <a:ext cx="68580" cy="14813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0974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6FA3FF"/>
                </a:solidFill>
                <a:latin typeface="Segoe UI" panose="020B0502040204020203"/>
              </a:rPr>
              <a:t>03</a:t>
            </a:r>
            <a:endParaRPr sz="1500" b="1" i="0">
              <a:solidFill>
                <a:srgbClr val="6FA3FF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17320" y="4809744"/>
            <a:ext cx="43434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0245C"/>
                </a:solidFill>
                <a:latin typeface="Segoe UI" panose="020B0502040204020203"/>
              </a:rPr>
              <a:t>Reveal consumption patterns</a:t>
            </a:r>
            <a:endParaRPr sz="1400" b="1" i="0">
              <a:solidFill>
                <a:srgbClr val="10245C"/>
              </a:solidFill>
              <a:latin typeface="Segoe UI" panose="020B0502040204020203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 panose="020B0502040204020203"/>
              </a:rPr>
              <a:t>Show daily, weekly, monthly and hourly trends and identify peak-demand periods and load profiles.</a:t>
            </a:r>
            <a:endParaRPr sz="115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99632" y="1298448"/>
            <a:ext cx="5477256" cy="148132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298448"/>
            <a:ext cx="68580" cy="1481328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48132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6FA3FF"/>
                </a:solidFill>
                <a:latin typeface="Segoe UI" panose="020B0502040204020203"/>
              </a:rPr>
              <a:t>04</a:t>
            </a:r>
            <a:endParaRPr sz="1500" b="1" i="0">
              <a:solidFill>
                <a:srgbClr val="6FA3FF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14032" y="1481328"/>
            <a:ext cx="43434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0245C"/>
                </a:solidFill>
                <a:latin typeface="Segoe UI" panose="020B0502040204020203"/>
              </a:rPr>
              <a:t>Enable comparison</a:t>
            </a:r>
            <a:endParaRPr sz="1400" b="1" i="0">
              <a:solidFill>
                <a:srgbClr val="10245C"/>
              </a:solidFill>
              <a:latin typeface="Segoe UI" panose="020B0502040204020203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 panose="020B0502040204020203"/>
              </a:rPr>
              <a:t>Compare consumers, buildings or facilities and rank the Top-N high-consumption entities.</a:t>
            </a:r>
            <a:endParaRPr sz="115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99632" y="2962656"/>
            <a:ext cx="5477256" cy="148132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2962656"/>
            <a:ext cx="68580" cy="14813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145536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6FA3FF"/>
                </a:solidFill>
                <a:latin typeface="Segoe UI" panose="020B0502040204020203"/>
              </a:rPr>
              <a:t>05</a:t>
            </a:r>
            <a:endParaRPr sz="1500" b="1" i="0">
              <a:solidFill>
                <a:srgbClr val="6FA3FF"/>
              </a:solidFill>
              <a:latin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14032" y="3145536"/>
            <a:ext cx="43434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0245C"/>
                </a:solidFill>
                <a:latin typeface="Segoe UI" panose="020B0502040204020203"/>
              </a:rPr>
              <a:t>Add diagnostic analytics</a:t>
            </a:r>
            <a:endParaRPr sz="1400" b="1" i="0">
              <a:solidFill>
                <a:srgbClr val="10245C"/>
              </a:solidFill>
              <a:latin typeface="Segoe UI" panose="020B0502040204020203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 panose="020B0502040204020203"/>
              </a:rPr>
              <a:t>Flag anomalies, provide forecast charts and show renewable-versus-grid contribution where data allows.</a:t>
            </a:r>
            <a:endParaRPr sz="115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99632" y="4626864"/>
            <a:ext cx="5477256" cy="148132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4626864"/>
            <a:ext cx="68580" cy="1481328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4809744"/>
            <a:ext cx="411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6FA3FF"/>
                </a:solidFill>
                <a:latin typeface="Segoe UI" panose="020B0502040204020203"/>
              </a:rPr>
              <a:t>06</a:t>
            </a:r>
            <a:endParaRPr sz="1500" b="1" i="0">
              <a:solidFill>
                <a:srgbClr val="6FA3FF"/>
              </a:solidFill>
              <a:latin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14032" y="4809744"/>
            <a:ext cx="43434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0245C"/>
                </a:solidFill>
                <a:latin typeface="Segoe UI" panose="020B0502040204020203"/>
              </a:rPr>
              <a:t>Support investigation</a:t>
            </a:r>
            <a:endParaRPr sz="1400" b="1" i="0">
              <a:solidFill>
                <a:srgbClr val="10245C"/>
              </a:solidFill>
              <a:latin typeface="Segoe UI" panose="020B0502040204020203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1C1C1C"/>
                </a:solidFill>
                <a:latin typeface="Segoe UI" panose="020B0502040204020203"/>
              </a:rPr>
              <a:t>Provide slicers for date, location, consumer, tariff and appliance plus drill-through pages for detail.</a:t>
            </a:r>
            <a:endParaRPr sz="115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 panose="020B0502040204020203"/>
              </a:rPr>
              <a:t>MACSE603 - Visual Analytics Lab  |  Smart Energy Consumption Visualization Dashboard Using Power BI</a:t>
            </a:r>
            <a:endParaRPr sz="900" b="0" i="0">
              <a:solidFill>
                <a:srgbClr val="555555"/>
              </a:solidFill>
              <a:latin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 panose="020B0502040204020203"/>
              </a:rPr>
              <a:t>2</a:t>
            </a:r>
            <a:endParaRPr sz="900" b="1" i="0">
              <a:solidFill>
                <a:srgbClr val="3366C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 panose="020B0502040204020203"/>
              </a:rPr>
              <a:t>4</a:t>
            </a:r>
            <a:endParaRPr sz="19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 panose="020B0502040204020203"/>
              </a:rPr>
              <a:t>Literature Review &amp; Related Works</a:t>
            </a:r>
            <a:endParaRPr sz="2500" b="1" i="0">
              <a:solidFill>
                <a:srgbClr val="10245C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1">
                <a:solidFill>
                  <a:srgbClr val="555555"/>
                </a:solidFill>
                <a:latin typeface="Segoe UI" panose="020B0502040204020203"/>
              </a:rPr>
              <a:t>Six papers reviewed - two per team member - covering BI workflows, big-data visualization, IoT sensing and machine-learning analytics.</a:t>
            </a:r>
            <a:endParaRPr sz="1150" b="0" i="1">
              <a:solidFill>
                <a:srgbClr val="555555"/>
              </a:solidFill>
              <a:latin typeface="Segoe UI" panose="020B0502040204020203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36192"/>
          <a:ext cx="11173968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2880360"/>
                <a:gridCol w="1600200"/>
                <a:gridCol w="4800600"/>
                <a:gridCol w="1508760"/>
              </a:tblGrid>
              <a:tr h="65967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#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64008" marR="64008" anchor="ctr">
                    <a:solidFill>
                      <a:srgbClr val="10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Paper / Study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64008" marR="64008" anchor="ctr">
                    <a:solidFill>
                      <a:srgbClr val="10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Source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64008" marR="64008" anchor="ctr">
                    <a:solidFill>
                      <a:srgbClr val="10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Key contribution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64008" marR="64008" anchor="ctr">
                    <a:solidFill>
                      <a:srgbClr val="10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Reviewer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</a:endParaRPr>
                    </a:p>
                  </a:txBody>
                  <a:tcPr marL="64008" marR="64008" anchor="ctr">
                    <a:solidFill>
                      <a:srgbClr val="10245C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366CC"/>
                          </a:solidFill>
                          <a:latin typeface="Segoe UI" panose="020B0502040204020203"/>
                        </a:rPr>
                        <a:t>1</a:t>
                      </a:r>
                      <a:endParaRPr sz="1100" b="1">
                        <a:solidFill>
                          <a:srgbClr val="3366C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0245C"/>
                          </a:solidFill>
                          <a:latin typeface="Segoe UI" panose="020B0502040204020203"/>
                        </a:rPr>
                        <a:t>Energy Consumption Distribution in Portugal: A Business Intelligence Solution</a:t>
                      </a:r>
                      <a:endParaRPr sz="900" b="1">
                        <a:solidFill>
                          <a:srgbClr val="10245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00" i="1">
                          <a:solidFill>
                            <a:srgbClr val="555555"/>
                          </a:solidFill>
                          <a:latin typeface="Segoe UI" panose="020B0502040204020203"/>
                        </a:rPr>
                        <a:t>NOVA IMS, 2024</a:t>
                      </a:r>
                      <a:endParaRPr sz="800" i="1">
                        <a:solidFill>
                          <a:srgbClr val="555555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>
                          <a:solidFill>
                            <a:srgbClr val="1C1C1C"/>
                          </a:solidFill>
                          <a:latin typeface="Segoe UI" panose="020B0502040204020203"/>
                        </a:rPr>
                        <a:t>Design Science Research Methodology; BI conceptual model and interactive Power BI dashboard over monthly, hourly and geographic data. Lesson: start from explicit business questions.</a:t>
                      </a:r>
                      <a:endParaRPr sz="850">
                        <a:solidFill>
                          <a:srgbClr val="1C1C1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3366CC"/>
                          </a:solidFill>
                          <a:latin typeface="Segoe UI" panose="020B0502040204020203"/>
                        </a:rPr>
                        <a:t>Vedant Nimkar</a:t>
                      </a:r>
                      <a:endParaRPr sz="900" b="1">
                        <a:solidFill>
                          <a:srgbClr val="3366C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366CC"/>
                          </a:solidFill>
                          <a:latin typeface="Segoe UI" panose="020B0502040204020203"/>
                        </a:rPr>
                        <a:t>2</a:t>
                      </a:r>
                      <a:endParaRPr sz="1100" b="1">
                        <a:solidFill>
                          <a:srgbClr val="3366C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0245C"/>
                          </a:solidFill>
                          <a:latin typeface="Segoe UI" panose="020B0502040204020203"/>
                        </a:rPr>
                        <a:t>Electricity Consumption using Big Data Analytics</a:t>
                      </a:r>
                      <a:endParaRPr sz="900" b="1">
                        <a:solidFill>
                          <a:srgbClr val="10245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00" i="1">
                          <a:solidFill>
                            <a:srgbClr val="555555"/>
                          </a:solidFill>
                          <a:latin typeface="Segoe UI" panose="020B0502040204020203"/>
                        </a:rPr>
                        <a:t>Awate et al., IJARSCT 3(2), 2023</a:t>
                      </a:r>
                      <a:endParaRPr sz="800" i="1">
                        <a:solidFill>
                          <a:srgbClr val="555555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>
                          <a:solidFill>
                            <a:srgbClr val="1C1C1C"/>
                          </a:solidFill>
                          <a:latin typeface="Segoe UI" panose="020B0502040204020203"/>
                        </a:rPr>
                        <a:t>500 residential consumers over 24 months. Power BI visuals plus Prophet forecasting and consumer ranking. Limitation: monthly data restricts temporal granularity.</a:t>
                      </a:r>
                      <a:endParaRPr sz="850">
                        <a:solidFill>
                          <a:srgbClr val="1C1C1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3366CC"/>
                          </a:solidFill>
                          <a:latin typeface="Segoe UI" panose="020B0502040204020203"/>
                        </a:rPr>
                        <a:t>Vedant Nimkar</a:t>
                      </a:r>
                      <a:endParaRPr sz="900" b="1">
                        <a:solidFill>
                          <a:srgbClr val="3366C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366CC"/>
                          </a:solidFill>
                          <a:latin typeface="Segoe UI" panose="020B0502040204020203"/>
                        </a:rPr>
                        <a:t>3</a:t>
                      </a:r>
                      <a:endParaRPr sz="1100" b="1">
                        <a:solidFill>
                          <a:srgbClr val="3366C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0245C"/>
                          </a:solidFill>
                          <a:latin typeface="Segoe UI" panose="020B0502040204020203"/>
                        </a:rPr>
                        <a:t>Energy Calculation Using Power BI</a:t>
                      </a:r>
                      <a:endParaRPr sz="900" b="1">
                        <a:solidFill>
                          <a:srgbClr val="10245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00" i="1">
                          <a:solidFill>
                            <a:srgbClr val="555555"/>
                          </a:solidFill>
                          <a:latin typeface="Segoe UI" panose="020B0502040204020203"/>
                        </a:rPr>
                        <a:t>IJRPR, 2023</a:t>
                      </a:r>
                      <a:endParaRPr sz="800" i="1">
                        <a:solidFill>
                          <a:srgbClr val="555555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>
                          <a:solidFill>
                            <a:srgbClr val="1C1C1C"/>
                          </a:solidFill>
                          <a:latin typeface="Segoe UI" panose="020B0502040204020203"/>
                        </a:rPr>
                        <a:t>End-to-end workflow: collect, clean, transform, model, visualise, add slicers, test accuracy, publish. Emphasises usability and stakeholder-oriented layout.</a:t>
                      </a:r>
                      <a:endParaRPr sz="850">
                        <a:solidFill>
                          <a:srgbClr val="1C1C1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3366CC"/>
                          </a:solidFill>
                          <a:latin typeface="Segoe UI" panose="020B0502040204020203"/>
                        </a:rPr>
                        <a:t>Jitesh Bobde</a:t>
                      </a:r>
                      <a:endParaRPr sz="900" b="1">
                        <a:solidFill>
                          <a:srgbClr val="3366C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366CC"/>
                          </a:solidFill>
                          <a:latin typeface="Segoe UI" panose="020B0502040204020203"/>
                        </a:rPr>
                        <a:t>4</a:t>
                      </a:r>
                      <a:endParaRPr sz="1100" b="1">
                        <a:solidFill>
                          <a:srgbClr val="3366C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0245C"/>
                          </a:solidFill>
                          <a:latin typeface="Segoe UI" panose="020B0502040204020203"/>
                        </a:rPr>
                        <a:t>Visualization as a Means of Big Data Management: Qatar Electricity Consumption Data</a:t>
                      </a:r>
                      <a:endParaRPr sz="900" b="1">
                        <a:solidFill>
                          <a:srgbClr val="10245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00" i="1">
                          <a:solidFill>
                            <a:srgbClr val="555555"/>
                          </a:solidFill>
                          <a:latin typeface="Segoe UI" panose="020B0502040204020203"/>
                        </a:rPr>
                        <a:t>Soliman &amp; Fetais, IEEE GCCCE, 2017</a:t>
                      </a:r>
                      <a:endParaRPr sz="800" i="1">
                        <a:solidFill>
                          <a:srgbClr val="555555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>
                          <a:solidFill>
                            <a:srgbClr val="1C1C1C"/>
                          </a:solidFill>
                          <a:latin typeface="Segoe UI" panose="020B0502040204020203"/>
                        </a:rPr>
                        <a:t>Visualization converts large inconsistent energy data into information. Identifies standardisation, integration, speed and outlier challenges.</a:t>
                      </a:r>
                      <a:endParaRPr sz="850">
                        <a:solidFill>
                          <a:srgbClr val="1C1C1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3366CC"/>
                          </a:solidFill>
                          <a:latin typeface="Segoe UI" panose="020B0502040204020203"/>
                        </a:rPr>
                        <a:t>Jitesh Bobde</a:t>
                      </a:r>
                      <a:endParaRPr sz="900" b="1">
                        <a:solidFill>
                          <a:srgbClr val="3366C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366CC"/>
                          </a:solidFill>
                          <a:latin typeface="Segoe UI" panose="020B0502040204020203"/>
                        </a:rPr>
                        <a:t>5</a:t>
                      </a:r>
                      <a:endParaRPr sz="1100" b="1">
                        <a:solidFill>
                          <a:srgbClr val="3366C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0245C"/>
                          </a:solidFill>
                          <a:latin typeface="Segoe UI" panose="020B0502040204020203"/>
                        </a:rPr>
                        <a:t>An IoT-Enabled Smart Energy Monitoring and Fault Prediction System</a:t>
                      </a:r>
                      <a:endParaRPr sz="900" b="1">
                        <a:solidFill>
                          <a:srgbClr val="10245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00" i="1">
                          <a:solidFill>
                            <a:srgbClr val="555555"/>
                          </a:solidFill>
                          <a:latin typeface="Segoe UI" panose="020B0502040204020203"/>
                        </a:rPr>
                        <a:t>IJIRT, 2026</a:t>
                      </a:r>
                      <a:endParaRPr sz="800" i="1">
                        <a:solidFill>
                          <a:srgbClr val="555555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>
                          <a:solidFill>
                            <a:srgbClr val="1C1C1C"/>
                          </a:solidFill>
                          <a:latin typeface="Segoe UI" panose="020B0502040204020203"/>
                        </a:rPr>
                        <a:t>ESP32 voltage/current sensing with calibration, MQTT to cloud, real-time dashboards, regression forecasting and fault anticipation. Dashboard is web-based, not Power BI.</a:t>
                      </a:r>
                      <a:endParaRPr sz="850">
                        <a:solidFill>
                          <a:srgbClr val="1C1C1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3366CC"/>
                          </a:solidFill>
                          <a:latin typeface="Segoe UI" panose="020B0502040204020203"/>
                        </a:rPr>
                        <a:t>Ayush Sharma</a:t>
                      </a:r>
                      <a:endParaRPr sz="900" b="1">
                        <a:solidFill>
                          <a:srgbClr val="3366C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366CC"/>
                          </a:solidFill>
                          <a:latin typeface="Segoe UI" panose="020B0502040204020203"/>
                        </a:rPr>
                        <a:t>6</a:t>
                      </a:r>
                      <a:endParaRPr sz="1100" b="1">
                        <a:solidFill>
                          <a:srgbClr val="3366C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10245C"/>
                          </a:solidFill>
                          <a:latin typeface="Segoe UI" panose="020B0502040204020203"/>
                        </a:rPr>
                        <a:t>Interactive Machine Learning-Powered Dashboard</a:t>
                      </a:r>
                      <a:endParaRPr sz="900" b="1">
                        <a:solidFill>
                          <a:srgbClr val="10245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00" i="1">
                          <a:solidFill>
                            <a:srgbClr val="555555"/>
                          </a:solidFill>
                          <a:latin typeface="Segoe UI" panose="020B0502040204020203"/>
                        </a:rPr>
                        <a:t>ESANN Proceedings, 2024</a:t>
                      </a:r>
                      <a:endParaRPr sz="800" i="1">
                        <a:solidFill>
                          <a:srgbClr val="555555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>
                          <a:solidFill>
                            <a:srgbClr val="1C1C1C"/>
                          </a:solidFill>
                          <a:latin typeface="Segoe UI" panose="020B0502040204020203"/>
                        </a:rPr>
                        <a:t>Machine learning with interactive visual analytics: t-SNE maps of daily demand profiles, data-cube filtering, sparklines and morphing projections.</a:t>
                      </a:r>
                      <a:endParaRPr sz="850">
                        <a:solidFill>
                          <a:srgbClr val="1C1C1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3366CC"/>
                          </a:solidFill>
                          <a:latin typeface="Segoe UI" panose="020B0502040204020203"/>
                        </a:rPr>
                        <a:t>Ayush Sharma</a:t>
                      </a:r>
                      <a:endParaRPr sz="900" b="1">
                        <a:solidFill>
                          <a:srgbClr val="3366CC"/>
                        </a:solidFill>
                        <a:latin typeface="Segoe UI" panose="020B0502040204020203"/>
                      </a:endParaRPr>
                    </a:p>
                  </a:txBody>
                  <a:tcPr marL="64008" marR="64008" marT="36576" marB="36576" anchor="ctr">
                    <a:solidFill>
                      <a:srgbClr val="F3F7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 panose="020B0502040204020203"/>
              </a:rPr>
              <a:t>MACSE603 - Visual Analytics Lab  |  Smart Energy Consumption Visualization Dashboard Using Power BI</a:t>
            </a:r>
            <a:endParaRPr sz="900" b="0" i="0">
              <a:solidFill>
                <a:srgbClr val="555555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 panose="020B0502040204020203"/>
              </a:rPr>
              <a:t>3</a:t>
            </a:r>
            <a:endParaRPr sz="900" b="1" i="0">
              <a:solidFill>
                <a:srgbClr val="3366C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 panose="020B0502040204020203"/>
              </a:rPr>
              <a:t>5</a:t>
            </a:r>
            <a:endParaRPr sz="19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 panose="020B0502040204020203"/>
              </a:rPr>
              <a:t>Research Gap Identified</a:t>
            </a:r>
            <a:endParaRPr sz="2500" b="1" i="0">
              <a:solidFill>
                <a:srgbClr val="10245C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3366CC"/>
                </a:solidFill>
                <a:latin typeface="Segoe UI" panose="020B0502040204020203"/>
              </a:rPr>
              <a:t>RECURRING REQUIREMENTS ACROSS THE SIX PAPERS</a:t>
            </a:r>
            <a:endParaRPr sz="1100" b="1" i="0">
              <a:solidFill>
                <a:srgbClr val="3366CC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5532120" cy="65836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64008" cy="65836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282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6FA3FF"/>
                </a:solidFill>
                <a:latin typeface="Segoe UI" panose="020B0502040204020203"/>
              </a:rPr>
              <a:t>1</a:t>
            </a:r>
            <a:endParaRPr sz="1300" b="1" i="0">
              <a:solidFill>
                <a:srgbClr val="6FA3FF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170078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 panose="020B0502040204020203"/>
              </a:rPr>
              <a:t>Reliable and standardized data</a:t>
            </a:r>
            <a:endParaRPr sz="120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2322576"/>
            <a:ext cx="5532120" cy="65836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22576"/>
            <a:ext cx="64008" cy="65836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780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6FA3FF"/>
                </a:solidFill>
                <a:latin typeface="Segoe UI" panose="020B0502040204020203"/>
              </a:rPr>
              <a:t>2</a:t>
            </a:r>
            <a:endParaRPr sz="1300" b="1" i="0">
              <a:solidFill>
                <a:srgbClr val="6FA3FF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88720" y="245059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 panose="020B0502040204020203"/>
              </a:rPr>
              <a:t>A clear, documented ETL pipeline</a:t>
            </a:r>
            <a:endParaRPr sz="120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3072384"/>
            <a:ext cx="5532120" cy="65836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072384"/>
            <a:ext cx="64008" cy="65836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2278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6FA3FF"/>
                </a:solidFill>
                <a:latin typeface="Segoe UI" panose="020B0502040204020203"/>
              </a:rPr>
              <a:t>3</a:t>
            </a:r>
            <a:endParaRPr sz="1300" b="1" i="0">
              <a:solidFill>
                <a:srgbClr val="6FA3FF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720" y="32004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 panose="020B0502040204020203"/>
              </a:rPr>
              <a:t>A well-structured analytical model</a:t>
            </a:r>
            <a:endParaRPr sz="120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3822192"/>
            <a:ext cx="5532120" cy="65836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822192"/>
            <a:ext cx="64008" cy="65836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977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6FA3FF"/>
                </a:solidFill>
                <a:latin typeface="Segoe UI" panose="020B0502040204020203"/>
              </a:rPr>
              <a:t>4</a:t>
            </a:r>
            <a:endParaRPr sz="1300" b="1" i="0">
              <a:solidFill>
                <a:srgbClr val="6FA3FF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88720" y="395020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 panose="020B0502040204020203"/>
              </a:rPr>
              <a:t>Interactive visuals that answer stakeholder questions</a:t>
            </a:r>
            <a:endParaRPr sz="120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4572000"/>
            <a:ext cx="5532120" cy="65836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572000"/>
            <a:ext cx="64008" cy="65836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7274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6FA3FF"/>
                </a:solidFill>
                <a:latin typeface="Segoe UI" panose="020B0502040204020203"/>
              </a:rPr>
              <a:t>5</a:t>
            </a:r>
            <a:endParaRPr sz="1300" b="1" i="0">
              <a:solidFill>
                <a:srgbClr val="6FA3FF"/>
              </a:solidFill>
              <a:latin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88720" y="4700016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C1C1C"/>
                </a:solidFill>
                <a:latin typeface="Segoe UI" panose="020B0502040204020203"/>
              </a:rPr>
              <a:t>Predictive or diagnostic features that turn observation into action</a:t>
            </a:r>
            <a:endParaRPr sz="120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5440680"/>
            <a:ext cx="5532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1">
                <a:solidFill>
                  <a:srgbClr val="555555"/>
                </a:solidFill>
                <a:latin typeface="Segoe UI" panose="020B0502040204020203"/>
              </a:rPr>
              <a:t>Power BI suits the reporting and exploration layer, while Python, SQL, IoT platforms and ML services provide data preparation and advanced analytics.</a:t>
            </a:r>
            <a:endParaRPr sz="1150" b="0" i="1">
              <a:solidFill>
                <a:srgbClr val="555555"/>
              </a:solidFill>
              <a:latin typeface="Segoe UI" panose="020B0502040204020203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63640" y="1207008"/>
            <a:ext cx="5413248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1207008"/>
            <a:ext cx="5413248" cy="6400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444752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B06A00"/>
                </a:solidFill>
                <a:latin typeface="Segoe UI" panose="020B0502040204020203"/>
              </a:rPr>
              <a:t>THE GAP</a:t>
            </a:r>
            <a:endParaRPr sz="1100" b="1" i="0">
              <a:solidFill>
                <a:srgbClr val="B06A00"/>
              </a:solidFill>
              <a:latin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80" y="1810512"/>
            <a:ext cx="4800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 i="0">
                <a:solidFill>
                  <a:srgbClr val="10245C"/>
                </a:solidFill>
                <a:latin typeface="Segoe UI" panose="020B0502040204020203"/>
              </a:rPr>
              <a:t>Existing work focuses on either Power BI reporting, IoT monitoring, or machine-learning analytics in isolation.</a:t>
            </a:r>
            <a:endParaRPr sz="1300" b="1" i="0">
              <a:solidFill>
                <a:srgbClr val="10245C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 i="0">
                <a:solidFill>
                  <a:srgbClr val="1C1C1C"/>
                </a:solidFill>
                <a:latin typeface="Segoe UI" panose="020B0502040204020203"/>
              </a:rPr>
              <a:t>No single study integrates all three layers into one practical, documented and evaluated dashboard.</a:t>
            </a:r>
            <a:endParaRPr sz="125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63640" y="3456432"/>
            <a:ext cx="5413248" cy="267004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456432"/>
            <a:ext cx="5413248" cy="64008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694176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E7A4F"/>
                </a:solidFill>
                <a:latin typeface="Segoe UI" panose="020B0502040204020203"/>
              </a:rPr>
              <a:t>OUR PROPOSED CONTRIBUTION</a:t>
            </a:r>
            <a:endParaRPr sz="1100" b="1" i="0">
              <a:solidFill>
                <a:srgbClr val="1E7A4F"/>
              </a:solidFill>
              <a:latin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059936"/>
            <a:ext cx="480060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150">
                <a:solidFill>
                  <a:srgbClr val="1C1C1C"/>
                </a:solidFill>
                <a:latin typeface="Segoe UI" panose="020B0502040204020203"/>
              </a:rPr>
              <a:t>Integrate reporting, IoT data and analytics in one dashboard</a:t>
            </a:r>
            <a:endParaRPr sz="11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150">
                <a:solidFill>
                  <a:srgbClr val="1C1C1C"/>
                </a:solidFill>
                <a:latin typeface="Segoe UI" panose="020B0502040204020203"/>
              </a:rPr>
              <a:t>Document explicit data-quality checks</a:t>
            </a:r>
            <a:endParaRPr sz="11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150">
                <a:solidFill>
                  <a:srgbClr val="1C1C1C"/>
                </a:solidFill>
                <a:latin typeface="Segoe UI" panose="020B0502040204020203"/>
              </a:rPr>
              <a:t>Provide role-specific views for different stakeholders</a:t>
            </a:r>
            <a:endParaRPr sz="11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150">
                <a:solidFill>
                  <a:srgbClr val="1C1C1C"/>
                </a:solidFill>
                <a:latin typeface="Segoe UI" panose="020B0502040204020203"/>
              </a:rPr>
              <a:t>Use explainable KPIs traceable to source data</a:t>
            </a:r>
            <a:endParaRPr sz="11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150">
                <a:solidFill>
                  <a:srgbClr val="1C1C1C"/>
                </a:solidFill>
                <a:latin typeface="Segoe UI" panose="020B0502040204020203"/>
              </a:rPr>
              <a:t>Evaluate on usability and decision usefulness</a:t>
            </a:r>
            <a:endParaRPr sz="115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 panose="020B0502040204020203"/>
              </a:rPr>
              <a:t>MACSE603 - Visual Analytics Lab  |  Smart Energy Consumption Visualization Dashboard Using Power BI</a:t>
            </a:r>
            <a:endParaRPr sz="900" b="0" i="0">
              <a:solidFill>
                <a:srgbClr val="555555"/>
              </a:solidFill>
              <a:latin typeface="Segoe UI" panose="020B05020402040202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 panose="020B0502040204020203"/>
              </a:rPr>
              <a:t>4</a:t>
            </a:r>
            <a:endParaRPr sz="900" b="1" i="0">
              <a:solidFill>
                <a:srgbClr val="3366C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566928" cy="56692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 panose="020B0502040204020203"/>
              </a:rPr>
              <a:t>6</a:t>
            </a:r>
            <a:endParaRPr sz="19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84048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10245C"/>
                </a:solidFill>
                <a:latin typeface="Segoe UI" panose="020B0502040204020203"/>
              </a:rPr>
              <a:t>Proposed System Design, Architecture &amp; Methods</a:t>
            </a:r>
            <a:endParaRPr sz="2500" b="1" i="0">
              <a:solidFill>
                <a:srgbClr val="10245C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1014984"/>
            <a:ext cx="1051560" cy="4572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498079" cy="786384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2148840" cy="78638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90472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 panose="020B0502040204020203"/>
              </a:rPr>
              <a:t>DATA SOURCES</a:t>
            </a:r>
            <a:endParaRPr sz="105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88920" y="1380744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 panose="020B0502040204020203"/>
              </a:rPr>
              <a:t>Smart meters  |  IoT sensors (ESP32 via MQTT)  |  Billing records  |  Weather / tariff reference data</a:t>
            </a:r>
            <a:endParaRPr sz="100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4160520" y="2039112"/>
            <a:ext cx="201168" cy="146304"/>
          </a:xfrm>
          <a:prstGeom prst="downArrow">
            <a:avLst/>
          </a:prstGeom>
          <a:solidFill>
            <a:srgbClr val="6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85416"/>
            <a:ext cx="7498079" cy="786384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85416"/>
            <a:ext cx="2148840" cy="78638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 panose="020B0502040204020203"/>
              </a:rPr>
              <a:t>INGESTION &amp; ETL</a:t>
            </a:r>
            <a:endParaRPr sz="105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88920" y="2331720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 panose="020B0502040204020203"/>
              </a:rPr>
              <a:t>Power Query cleaning  |  unit standardisation  |  missing-value treatment  |  outlier handling  |  scheduled refresh</a:t>
            </a:r>
            <a:endParaRPr sz="100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4160520" y="2990088"/>
            <a:ext cx="201168" cy="146304"/>
          </a:xfrm>
          <a:prstGeom prst="downArrow">
            <a:avLst/>
          </a:prstGeom>
          <a:solidFill>
            <a:srgbClr val="6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36392"/>
            <a:ext cx="7498079" cy="786384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136392"/>
            <a:ext cx="2148840" cy="78638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392424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 panose="020B0502040204020203"/>
              </a:rPr>
              <a:t>ANALYTICAL MODEL</a:t>
            </a:r>
            <a:endParaRPr sz="105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88920" y="3282696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 panose="020B0502040204020203"/>
              </a:rPr>
              <a:t>Star schema (fact: consumption readings; dimensions: date, consumer, location, tariff, appliance)  |  DAX measures</a:t>
            </a:r>
            <a:endParaRPr sz="100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4160520" y="3941064"/>
            <a:ext cx="201168" cy="146304"/>
          </a:xfrm>
          <a:prstGeom prst="downArrow">
            <a:avLst/>
          </a:prstGeom>
          <a:solidFill>
            <a:srgbClr val="6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087368"/>
            <a:ext cx="7498079" cy="786384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87368"/>
            <a:ext cx="2148840" cy="786384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343400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 panose="020B0502040204020203"/>
              </a:rPr>
              <a:t>ANALYTICS LAYER</a:t>
            </a:r>
            <a:endParaRPr sz="105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920" y="4233672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 panose="020B0502040204020203"/>
              </a:rPr>
              <a:t>Forecasting (Prophet / regression)  |  anomaly detection  |  load-shape clustering with t-SNE  |  Top-N ranking</a:t>
            </a:r>
            <a:endParaRPr sz="100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4160520" y="4892040"/>
            <a:ext cx="201168" cy="146304"/>
          </a:xfrm>
          <a:prstGeom prst="downArrow">
            <a:avLst/>
          </a:prstGeom>
          <a:solidFill>
            <a:srgbClr val="6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038344"/>
            <a:ext cx="7498079" cy="786384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038344"/>
            <a:ext cx="2148840" cy="786384"/>
          </a:xfrm>
          <a:prstGeom prst="rect">
            <a:avLst/>
          </a:prstGeom>
          <a:solidFill>
            <a:srgbClr val="10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294376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 panose="020B0502040204020203"/>
              </a:rPr>
              <a:t>PRESENTATION - POWER BI</a:t>
            </a:r>
            <a:endParaRPr sz="105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88920" y="5184648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1C1C1C"/>
                </a:solidFill>
                <a:latin typeface="Segoe UI" panose="020B0502040204020203"/>
              </a:rPr>
              <a:t>KPI cards  |  trend &amp; peak-demand charts  |  load heatmaps  |  comparisons  |  slicers  |  drill-through pages</a:t>
            </a:r>
            <a:endParaRPr sz="1000" b="0" i="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29600" y="1234440"/>
            <a:ext cx="345643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234440"/>
            <a:ext cx="3456432" cy="64008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4630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3366CC"/>
                </a:solidFill>
                <a:latin typeface="Segoe UI" panose="020B0502040204020203"/>
              </a:rPr>
              <a:t>METHODS</a:t>
            </a:r>
            <a:endParaRPr sz="1100" b="1" i="0">
              <a:solidFill>
                <a:srgbClr val="3366CC"/>
              </a:solidFill>
              <a:latin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03920" y="1810512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050">
                <a:solidFill>
                  <a:srgbClr val="1C1C1C"/>
                </a:solidFill>
                <a:latin typeface="Segoe UI" panose="020B0502040204020203"/>
              </a:rPr>
              <a:t>Design Science Research Methodology</a:t>
            </a:r>
            <a:endParaRPr sz="10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050">
                <a:solidFill>
                  <a:srgbClr val="1C1C1C"/>
                </a:solidFill>
                <a:latin typeface="Segoe UI" panose="020B0502040204020203"/>
              </a:rPr>
              <a:t>Business questions defined first</a:t>
            </a:r>
            <a:endParaRPr sz="10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050">
                <a:solidFill>
                  <a:srgbClr val="1C1C1C"/>
                </a:solidFill>
                <a:latin typeface="Segoe UI" panose="020B0502040204020203"/>
              </a:rPr>
              <a:t>Iterative build with user feedback</a:t>
            </a:r>
            <a:endParaRPr sz="10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050">
                <a:solidFill>
                  <a:srgbClr val="1C1C1C"/>
                </a:solidFill>
                <a:latin typeface="Segoe UI" panose="020B0502040204020203"/>
              </a:rPr>
              <a:t>Star-schema dimensional modeling</a:t>
            </a:r>
            <a:endParaRPr sz="10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050">
                <a:solidFill>
                  <a:srgbClr val="1C1C1C"/>
                </a:solidFill>
                <a:latin typeface="Segoe UI" panose="020B0502040204020203"/>
              </a:rPr>
              <a:t>Accuracy testing before publishing</a:t>
            </a:r>
            <a:endParaRPr sz="105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229600" y="3913632"/>
            <a:ext cx="3456432" cy="2212848"/>
          </a:xfrm>
          <a:prstGeom prst="rect">
            <a:avLst/>
          </a:prstGeom>
          <a:solidFill>
            <a:srgbClr val="F3F7FF"/>
          </a:solidFill>
          <a:ln w="12700">
            <a:solidFill>
              <a:srgbClr val="C8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913632"/>
            <a:ext cx="3456432" cy="64008"/>
          </a:xfrm>
          <a:prstGeom prst="rect">
            <a:avLst/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414223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E7A4F"/>
                </a:solidFill>
                <a:latin typeface="Segoe UI" panose="020B0502040204020203"/>
              </a:rPr>
              <a:t>EVALUATION METRICS</a:t>
            </a:r>
            <a:endParaRPr sz="1100" b="1" i="0">
              <a:solidFill>
                <a:srgbClr val="1E7A4F"/>
              </a:solidFill>
              <a:latin typeface="Segoe UI" panose="020B05020402040202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03920" y="4489704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0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050">
                <a:solidFill>
                  <a:srgbClr val="1C1C1C"/>
                </a:solidFill>
                <a:latin typeface="Segoe UI" panose="020B0502040204020203"/>
              </a:rPr>
              <a:t>Refresh reliability</a:t>
            </a:r>
            <a:endParaRPr sz="10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0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050">
                <a:solidFill>
                  <a:srgbClr val="1C1C1C"/>
                </a:solidFill>
                <a:latin typeface="Segoe UI" panose="020B0502040204020203"/>
              </a:rPr>
              <a:t>Visual clarity and usability</a:t>
            </a:r>
            <a:endParaRPr sz="10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0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050">
                <a:solidFill>
                  <a:srgbClr val="1C1C1C"/>
                </a:solidFill>
                <a:latin typeface="Segoe UI" panose="020B0502040204020203"/>
              </a:rPr>
              <a:t>Forecast error where used</a:t>
            </a:r>
            <a:endParaRPr sz="1050">
              <a:solidFill>
                <a:srgbClr val="1C1C1C"/>
              </a:solidFill>
              <a:latin typeface="Segoe UI" panose="020B0502040204020203"/>
            </a:endParaRP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050">
                <a:solidFill>
                  <a:srgbClr val="3366CC"/>
                </a:solidFill>
                <a:latin typeface="Segoe UI" panose="020B0502040204020203"/>
              </a:rPr>
              <a:t>▪   </a:t>
            </a:r>
            <a:r>
              <a:rPr sz="1050">
                <a:solidFill>
                  <a:srgbClr val="1C1C1C"/>
                </a:solidFill>
                <a:latin typeface="Segoe UI" panose="020B0502040204020203"/>
              </a:rPr>
              <a:t>Actionable energy-saving findings</a:t>
            </a:r>
            <a:endParaRPr sz="1050">
              <a:solidFill>
                <a:srgbClr val="1C1C1C"/>
              </a:solidFill>
              <a:latin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2920" y="6437376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555555"/>
                </a:solidFill>
                <a:latin typeface="Segoe UI" panose="020B0502040204020203"/>
              </a:rPr>
              <a:t>MACSE603 - Visual Analytics Lab  |  Smart Energy Consumption Visualization Dashboard Using Power BI</a:t>
            </a:r>
            <a:endParaRPr sz="900" b="0" i="0">
              <a:solidFill>
                <a:srgbClr val="555555"/>
              </a:solidFill>
              <a:latin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064240" y="643737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00" b="1" i="0">
                <a:solidFill>
                  <a:srgbClr val="3366CC"/>
                </a:solidFill>
                <a:latin typeface="Segoe UI" panose="020B0502040204020203"/>
              </a:rPr>
              <a:t>5</a:t>
            </a:r>
            <a:endParaRPr sz="900" b="1" i="0">
              <a:solidFill>
                <a:srgbClr val="3366C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6499</Words>
  <Application>WPS Presentation</Application>
  <PresentationFormat>On-screen Show (4:3)</PresentationFormat>
  <Paragraphs>254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ROG</cp:lastModifiedBy>
  <cp:revision>2</cp:revision>
  <dcterms:created xsi:type="dcterms:W3CDTF">2013-01-27T09:14:00Z</dcterms:created>
  <dcterms:modified xsi:type="dcterms:W3CDTF">2026-08-25T09:40:01Z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7D9A9E6DCFA949B6A68F8592FBCFFE86_12</vt:lpwstr>
  </property>
</Properties>
</file>